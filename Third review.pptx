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87" r:id="rId3"/>
    <p:sldId id="288" r:id="rId4"/>
    <p:sldId id="260" r:id="rId5"/>
    <p:sldId id="262" r:id="rId6"/>
    <p:sldId id="289" r:id="rId7"/>
    <p:sldId id="278" r:id="rId8"/>
    <p:sldId id="267" r:id="rId9"/>
    <p:sldId id="284" r:id="rId10"/>
    <p:sldId id="294" r:id="rId11"/>
    <p:sldId id="293" r:id="rId12"/>
    <p:sldId id="292" r:id="rId13"/>
    <p:sldId id="295" r:id="rId14"/>
    <p:sldId id="297" r:id="rId15"/>
    <p:sldId id="298" r:id="rId16"/>
    <p:sldId id="299"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7" d="100"/>
          <a:sy n="87" d="100"/>
        </p:scale>
        <p:origin x="49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DB5D49-D36C-493B-894D-932D7F127419}" type="datetimeFigureOut">
              <a:rPr lang="en-US" smtClean="0"/>
              <a:t>4/5/2026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CABEA3-6D73-4EBD-8EF0-C59349BF264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9CABEA3-6D73-4EBD-8EF0-C59349BF2643}" type="slidenum">
              <a:rPr lang="en-US" smtClean="0"/>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5210B4-056D-4E03-BC43-18DEB964B032}"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5210B4-056D-4E03-BC43-18DEB964B032}" type="datetimeFigureOut">
              <a:rPr lang="en-IN" smtClean="0"/>
              <a:t>05-04-2026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210B4-056D-4E03-BC43-18DEB964B032}" type="datetimeFigureOut">
              <a:rPr lang="en-IN" smtClean="0"/>
              <a:t>05-04-2026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10B4-056D-4E03-BC43-18DEB964B032}" type="datetimeFigureOut">
              <a:rPr lang="en-IN" smtClean="0"/>
              <a:t>05-04-2026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210B4-056D-4E03-BC43-18DEB964B032}"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5210B4-056D-4E03-BC43-18DEB964B032}" type="datetimeFigureOut">
              <a:rPr lang="en-IN" smtClean="0"/>
              <a:t>05-04-2026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t>05-04-2026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5210B4-056D-4E03-BC43-18DEB964B032}" type="datetimeFigureOut">
              <a:rPr lang="en-IN" smtClean="0"/>
              <a:t>05-04-2026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97425F-F61E-4FC1-8556-5501FC3A887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42745" y="301625"/>
            <a:ext cx="8006715" cy="1867535"/>
          </a:xfrm>
        </p:spPr>
        <p:txBody>
          <a:bodyPr>
            <a:normAutofit/>
          </a:bodyPr>
          <a:lstStyle/>
          <a:p>
            <a:pPr algn="ctr"/>
            <a:r>
              <a:rPr lang="en-US" sz="3200" b="1" dirty="0">
                <a:solidFill>
                  <a:schemeClr val="tx1"/>
                </a:solidFill>
              </a:rPr>
              <a:t>   </a:t>
            </a:r>
            <a:r>
              <a:rPr lang="en-US" sz="3200" b="1" dirty="0">
                <a:solidFill>
                  <a:schemeClr val="tx1">
                    <a:lumMod val="85000"/>
                    <a:lumOff val="15000"/>
                  </a:schemeClr>
                </a:solidFill>
              </a:rPr>
              <a:t> </a:t>
            </a:r>
            <a:r>
              <a:rPr lang="en-US" sz="3200" dirty="0">
                <a:solidFill>
                  <a:schemeClr val="tx1"/>
                </a:solidFill>
                <a:effectLst>
                  <a:outerShdw blurRad="38100" dist="19050" dir="2700000" algn="tl" rotWithShape="0">
                    <a:schemeClr val="dk1">
                      <a:alpha val="40000"/>
                    </a:schemeClr>
                  </a:outerShdw>
                </a:effectLst>
                <a:sym typeface="+mn-ea"/>
              </a:rPr>
              <a:t>DARK WEB CRAWLER AND SC</a:t>
            </a:r>
            <a:r>
              <a:rPr lang="en-IN" altLang="en-US" sz="3200" dirty="0">
                <a:solidFill>
                  <a:schemeClr val="tx1"/>
                </a:solidFill>
                <a:effectLst>
                  <a:outerShdw blurRad="38100" dist="19050" dir="2700000" algn="tl" rotWithShape="0">
                    <a:schemeClr val="dk1">
                      <a:alpha val="40000"/>
                    </a:schemeClr>
                  </a:outerShdw>
                </a:effectLst>
                <a:sym typeface="+mn-ea"/>
              </a:rPr>
              <a:t>R</a:t>
            </a:r>
            <a:r>
              <a:rPr lang="en-US" sz="3200" dirty="0">
                <a:solidFill>
                  <a:schemeClr val="tx1"/>
                </a:solidFill>
                <a:effectLst>
                  <a:outerShdw blurRad="38100" dist="19050" dir="2700000" algn="tl" rotWithShape="0">
                    <a:schemeClr val="dk1">
                      <a:alpha val="40000"/>
                    </a:schemeClr>
                  </a:outerShdw>
                </a:effectLst>
                <a:sym typeface="+mn-ea"/>
              </a:rPr>
              <a:t>APER WITH</a:t>
            </a:r>
            <a:br>
              <a:rPr lang="en-US" sz="3200" dirty="0">
                <a:solidFill>
                  <a:schemeClr val="tx1"/>
                </a:solidFill>
                <a:effectLst>
                  <a:outerShdw blurRad="38100" dist="19050" dir="2700000" algn="tl" rotWithShape="0">
                    <a:schemeClr val="dk1">
                      <a:alpha val="40000"/>
                    </a:schemeClr>
                  </a:outerShdw>
                </a:effectLst>
                <a:sym typeface="+mn-ea"/>
              </a:rPr>
            </a:br>
            <a:r>
              <a:rPr lang="en-US" sz="3200" dirty="0">
                <a:solidFill>
                  <a:schemeClr val="tx1"/>
                </a:solidFill>
                <a:effectLst>
                  <a:outerShdw blurRad="38100" dist="19050" dir="2700000" algn="tl" rotWithShape="0">
                    <a:schemeClr val="dk1">
                      <a:alpha val="40000"/>
                    </a:schemeClr>
                  </a:outerShdw>
                </a:effectLst>
                <a:sym typeface="+mn-ea"/>
              </a:rPr>
              <a:t> LLM-BASED SECURITY ANALYSIS</a:t>
            </a:r>
            <a:endParaRPr lang="en-IN" sz="3200" b="1" dirty="0">
              <a:solidFill>
                <a:schemeClr val="tx1">
                  <a:lumMod val="85000"/>
                  <a:lumOff val="15000"/>
                </a:schemeClr>
              </a:solidFill>
            </a:endParaRPr>
          </a:p>
        </p:txBody>
      </p:sp>
      <p:sp>
        <p:nvSpPr>
          <p:cNvPr id="3" name="Subtitle 2"/>
          <p:cNvSpPr>
            <a:spLocks noGrp="1"/>
          </p:cNvSpPr>
          <p:nvPr>
            <p:ph type="subTitle" idx="1"/>
          </p:nvPr>
        </p:nvSpPr>
        <p:spPr>
          <a:xfrm>
            <a:off x="2081719" y="2558375"/>
            <a:ext cx="8501974" cy="2830748"/>
          </a:xfrm>
        </p:spPr>
        <p:txBody>
          <a:bodyPr>
            <a:normAutofit fontScale="47500" lnSpcReduction="10000"/>
          </a:bodyPr>
          <a:lstStyle/>
          <a:p>
            <a:pPr algn="l"/>
            <a:r>
              <a:rPr lang="en-US" sz="4000" b="1" dirty="0">
                <a:solidFill>
                  <a:schemeClr val="tx1"/>
                </a:solidFill>
                <a:latin typeface="Arial" panose="020B0604020202020204" pitchFamily="34" charset="0"/>
                <a:cs typeface="Arial" panose="020B0604020202020204" pitchFamily="34" charset="0"/>
              </a:rPr>
              <a:t>TEAM MEMBERS</a:t>
            </a:r>
            <a:r>
              <a:rPr lang="en-US" sz="4000" dirty="0">
                <a:solidFill>
                  <a:schemeClr val="tx1"/>
                </a:solidFill>
                <a:latin typeface="Arial" panose="020B0604020202020204" pitchFamily="34" charset="0"/>
                <a:cs typeface="Arial" panose="020B0604020202020204" pitchFamily="34" charset="0"/>
              </a:rPr>
              <a:t>:</a:t>
            </a:r>
            <a:r>
              <a:rPr lang="en-IN" altLang="en-US" sz="4000" dirty="0">
                <a:solidFill>
                  <a:schemeClr val="tx1"/>
                </a:solidFill>
                <a:latin typeface="Arial" panose="020B0604020202020204" pitchFamily="34" charset="0"/>
                <a:cs typeface="Arial" panose="020B0604020202020204" pitchFamily="34" charset="0"/>
              </a:rPr>
              <a:t> 1. ROJA S (620822205089)</a:t>
            </a: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2. SWETHA S </a:t>
            </a:r>
            <a:r>
              <a:rPr lang="en-IN" altLang="en-US" sz="4000" dirty="0">
                <a:solidFill>
                  <a:schemeClr val="tx1"/>
                </a:solidFill>
                <a:latin typeface="Arial" panose="020B0604020202020204" pitchFamily="34" charset="0"/>
                <a:cs typeface="Arial" panose="020B0604020202020204" pitchFamily="34" charset="0"/>
                <a:sym typeface="+mn-ea"/>
              </a:rPr>
              <a:t>(620822205112)</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3. SARANYA M </a:t>
            </a:r>
            <a:r>
              <a:rPr lang="en-IN" altLang="en-US" sz="4000" dirty="0">
                <a:solidFill>
                  <a:schemeClr val="tx1"/>
                </a:solidFill>
                <a:latin typeface="Arial" panose="020B0604020202020204" pitchFamily="34" charset="0"/>
                <a:cs typeface="Arial" panose="020B0604020202020204" pitchFamily="34" charset="0"/>
                <a:sym typeface="+mn-ea"/>
              </a:rPr>
              <a:t>(620822205095)</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4. SHARMILA K </a:t>
            </a:r>
            <a:r>
              <a:rPr lang="en-IN" altLang="en-US" sz="4000" dirty="0">
                <a:solidFill>
                  <a:schemeClr val="tx1"/>
                </a:solidFill>
                <a:latin typeface="Arial" panose="020B0604020202020204" pitchFamily="34" charset="0"/>
                <a:cs typeface="Arial" panose="020B0604020202020204" pitchFamily="34" charset="0"/>
                <a:sym typeface="+mn-ea"/>
              </a:rPr>
              <a:t>(620822205099)</a:t>
            </a:r>
            <a:endParaRPr lang="en-US" sz="4000" dirty="0">
              <a:solidFill>
                <a:schemeClr val="tx1"/>
              </a:solidFill>
              <a:latin typeface="Arial" panose="020B0604020202020204" pitchFamily="34" charset="0"/>
              <a:cs typeface="Arial" panose="020B0604020202020204" pitchFamily="34" charset="0"/>
            </a:endParaRPr>
          </a:p>
          <a:p>
            <a:pPr algn="l"/>
            <a:r>
              <a:rPr lang="en-US" sz="4000" dirty="0">
                <a:solidFill>
                  <a:schemeClr val="tx1"/>
                </a:solidFill>
                <a:latin typeface="Arial" panose="020B0604020202020204" pitchFamily="34" charset="0"/>
                <a:cs typeface="Arial" panose="020B0604020202020204" pitchFamily="34" charset="0"/>
              </a:rPr>
              <a:t> </a:t>
            </a:r>
          </a:p>
          <a:p>
            <a:pPr algn="l"/>
            <a:r>
              <a:rPr lang="en-US" sz="4000" b="1" dirty="0">
                <a:solidFill>
                  <a:schemeClr val="tx1"/>
                </a:solidFill>
                <a:latin typeface="Arial" panose="020B0604020202020204" pitchFamily="34" charset="0"/>
                <a:cs typeface="Arial" panose="020B0604020202020204" pitchFamily="34" charset="0"/>
              </a:rPr>
              <a:t>GUIDE</a:t>
            </a:r>
            <a:r>
              <a:rPr lang="en-US"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 </a:t>
            </a:r>
            <a:r>
              <a:rPr lang="en-US" sz="4000" dirty="0">
                <a:solidFill>
                  <a:schemeClr val="tx1"/>
                </a:solidFill>
                <a:latin typeface="Arial" panose="020B0604020202020204" pitchFamily="34" charset="0"/>
                <a:cs typeface="Arial" panose="020B0604020202020204" pitchFamily="34" charset="0"/>
                <a:sym typeface="+mn-ea"/>
              </a:rPr>
              <a:t>Mrs.S.S</a:t>
            </a:r>
            <a:r>
              <a:rPr lang="en-IN" altLang="en-US" sz="4000" dirty="0">
                <a:solidFill>
                  <a:schemeClr val="tx1"/>
                </a:solidFill>
                <a:latin typeface="Arial" panose="020B0604020202020204" pitchFamily="34" charset="0"/>
                <a:cs typeface="Arial" panose="020B0604020202020204" pitchFamily="34" charset="0"/>
                <a:sym typeface="+mn-ea"/>
              </a:rPr>
              <a:t>ARANYA</a:t>
            </a:r>
            <a:r>
              <a:rPr lang="en-US" sz="4000" dirty="0">
                <a:solidFill>
                  <a:schemeClr val="tx1"/>
                </a:solidFill>
                <a:latin typeface="Arial" panose="020B0604020202020204" pitchFamily="34" charset="0"/>
                <a:cs typeface="Arial" panose="020B0604020202020204" pitchFamily="34" charset="0"/>
                <a:sym typeface="+mn-ea"/>
              </a:rPr>
              <a:t>,</a:t>
            </a:r>
            <a:r>
              <a:rPr lang="en-IN" altLang="en-US" sz="4000" dirty="0">
                <a:solidFill>
                  <a:schemeClr val="tx1"/>
                </a:solidFill>
                <a:latin typeface="Arial" panose="020B0604020202020204" pitchFamily="34" charset="0"/>
                <a:cs typeface="Arial" panose="020B0604020202020204" pitchFamily="34" charset="0"/>
                <a:sym typeface="+mn-ea"/>
              </a:rPr>
              <a:t>AP</a:t>
            </a:r>
            <a:r>
              <a:rPr lang="en-US" sz="4000" dirty="0">
                <a:solidFill>
                  <a:schemeClr val="tx1"/>
                </a:solidFill>
                <a:latin typeface="Arial" panose="020B0604020202020204" pitchFamily="34" charset="0"/>
                <a:cs typeface="Arial" panose="020B0604020202020204" pitchFamily="34" charset="0"/>
                <a:sym typeface="+mn-ea"/>
              </a:rPr>
              <a:t>/IT</a:t>
            </a:r>
            <a:endParaRPr 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sym typeface="+mn-ea"/>
              </a:rPr>
              <a:t>GNANAMANI COLLEGE OF TECHNOLOGY.</a:t>
            </a:r>
            <a:r>
              <a:rPr lang="en-US" sz="4000" dirty="0">
                <a:solidFill>
                  <a:schemeClr val="tx1"/>
                </a:solidFill>
                <a:latin typeface="Arial" panose="020B0604020202020204" pitchFamily="34" charset="0"/>
                <a:cs typeface="Arial" panose="020B0604020202020204" pitchFamily="34" charset="0"/>
                <a:sym typeface="+mn-ea"/>
              </a:rPr>
              <a:t> </a:t>
            </a:r>
            <a:endParaRPr lang="en-US" sz="4000" dirty="0">
              <a:solidFill>
                <a:schemeClr val="tx1"/>
              </a:solidFill>
              <a:latin typeface="Arial" panose="020B0604020202020204" pitchFamily="34" charset="0"/>
              <a:cs typeface="Arial" panose="020B0604020202020204" pitchFamily="34" charset="0"/>
            </a:endParaRPr>
          </a:p>
          <a:p>
            <a:pPr algn="l"/>
            <a:r>
              <a:rPr lang="en-US" sz="2000" dirty="0">
                <a:solidFill>
                  <a:schemeClr val="tx1"/>
                </a:solidFill>
              </a:rPr>
              <a:t> </a:t>
            </a:r>
            <a:r>
              <a:rPr lang="en-US" dirty="0">
                <a:solidFill>
                  <a:schemeClr val="tx1"/>
                </a:solidFill>
              </a:rPr>
              <a:t>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IN" b="1" dirty="0">
                <a:solidFill>
                  <a:schemeClr val="tx1"/>
                </a:solidFill>
              </a:rPr>
              <a:t>Problem Statement</a:t>
            </a:r>
          </a:p>
        </p:txBody>
      </p:sp>
      <p:sp>
        <p:nvSpPr>
          <p:cNvPr id="3" name="Content Placeholder 2"/>
          <p:cNvSpPr>
            <a:spLocks noGrp="1"/>
          </p:cNvSpPr>
          <p:nvPr>
            <p:ph idx="1"/>
          </p:nvPr>
        </p:nvSpPr>
        <p:spPr>
          <a:xfrm>
            <a:off x="677545" y="1545590"/>
            <a:ext cx="9020810" cy="4495800"/>
          </a:xfrm>
        </p:spPr>
        <p:txBody>
          <a:bodyPr>
            <a:normAutofit/>
          </a:bodyPr>
          <a:lstStyle/>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Exploring the dark web manually is time-consuming and risky.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Hidden links and anonymous sites make navigation difficult.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Traditional web crawlers cannot access Tor-based dark web sites.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Extracting relevant information manually is inefficient and prone to errors.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Security and privacy concerns make dark web data collection challenging</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There is a lack of systematic analysis of existing crawler and scraper architectures</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endParaRPr lang="en-I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Objective</a:t>
            </a:r>
          </a:p>
        </p:txBody>
      </p:sp>
      <p:sp>
        <p:nvSpPr>
          <p:cNvPr id="4" name="Content Placeholder 3"/>
          <p:cNvSpPr>
            <a:spLocks noGrp="1"/>
          </p:cNvSpPr>
          <p:nvPr>
            <p:ph idx="1"/>
          </p:nvPr>
        </p:nvSpPr>
        <p:spPr>
          <a:xfrm>
            <a:off x="677545" y="1420495"/>
            <a:ext cx="8596630" cy="4620895"/>
          </a:xfrm>
        </p:spPr>
        <p:txBody>
          <a:bodyPr>
            <a:noAutofit/>
          </a:bodyPr>
          <a:lstStyle/>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design a dark web crawler capable of navigating Tor network safely.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implement a scraper module that efficiently extracts relevant data.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analyze and filter the collected data for meaningful insights.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evaluate existing crawler and scraper architectures for performance</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address challenges like anonymity, security, and ethical issues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provide a systematic overview for future dark web research</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a:solidFill>
                <a:schemeClr val="tx1">
                  <a:lumMod val="95000"/>
                  <a:lumOff val="5000"/>
                </a:schemeClr>
              </a:solidFill>
              <a:latin typeface="Arial" panose="020B0604020202020204" pitchFamily="34" charset="0"/>
              <a:cs typeface="Arial" panose="020B0604020202020204" pitchFamily="34" charset="0"/>
            </a:endParaRPr>
          </a:p>
        </p:txBody>
      </p:sp>
      <p:sp>
        <p:nvSpPr>
          <p:cNvPr id="8" name="Text Box 7"/>
          <p:cNvSpPr txBox="1"/>
          <p:nvPr/>
        </p:nvSpPr>
        <p:spPr>
          <a:xfrm>
            <a:off x="10155555" y="4956810"/>
            <a:ext cx="4064000" cy="368300"/>
          </a:xfrm>
          <a:prstGeom prst="rect">
            <a:avLst/>
          </a:prstGeom>
          <a:noFill/>
        </p:spPr>
        <p:txBody>
          <a:bodyPr wrap="squar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468" y="0"/>
            <a:ext cx="8256200" cy="1320800"/>
          </a:xfrm>
        </p:spPr>
        <p:txBody>
          <a:bodyPr/>
          <a:lstStyle/>
          <a:p>
            <a:r>
              <a:rPr lang="en-US" b="1" dirty="0">
                <a:solidFill>
                  <a:schemeClr val="tx1"/>
                </a:solidFill>
              </a:rPr>
              <a:t>Existing System</a:t>
            </a:r>
            <a:endParaRPr lang="en-IN" dirty="0">
              <a:solidFill>
                <a:schemeClr val="tx1"/>
              </a:solidFill>
            </a:endParaRPr>
          </a:p>
        </p:txBody>
      </p:sp>
      <p:sp>
        <p:nvSpPr>
          <p:cNvPr id="3" name="Content Placeholder 2"/>
          <p:cNvSpPr>
            <a:spLocks noGrp="1"/>
          </p:cNvSpPr>
          <p:nvPr>
            <p:ph idx="1"/>
          </p:nvPr>
        </p:nvSpPr>
        <p:spPr>
          <a:xfrm>
            <a:off x="749935" y="682625"/>
            <a:ext cx="8961120" cy="2745740"/>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Current web crawlers are mainly designed to explore the surface web and cannot access dark web content that runs on the Tor network. Manual exploration of the dark web is risky, time-consuming, and unsafe. Most existing scrapers are not built to handle anonymous or hidden websites, making data extraction difficult. Collecting information from the dark web also requires stronger security measures, which many systems lack.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 name="Rectangle 3"/>
          <p:cNvSpPr/>
          <p:nvPr/>
        </p:nvSpPr>
        <p:spPr>
          <a:xfrm>
            <a:off x="379379" y="3570052"/>
            <a:ext cx="3501958" cy="646331"/>
          </a:xfrm>
          <a:prstGeom prst="rect">
            <a:avLst/>
          </a:prstGeom>
        </p:spPr>
        <p:txBody>
          <a:bodyPr wrap="square">
            <a:spAutoFit/>
          </a:bodyPr>
          <a:lstStyle/>
          <a:p>
            <a:r>
              <a:rPr lang="en-US" sz="3600" b="1" dirty="0"/>
              <a:t>Disadvantage</a:t>
            </a:r>
            <a:endParaRPr lang="en-US" sz="3600" dirty="0"/>
          </a:p>
        </p:txBody>
      </p:sp>
      <p:sp>
        <p:nvSpPr>
          <p:cNvPr id="5" name="Text Box 4"/>
          <p:cNvSpPr txBox="1"/>
          <p:nvPr/>
        </p:nvSpPr>
        <p:spPr>
          <a:xfrm>
            <a:off x="750570" y="4216400"/>
            <a:ext cx="9419590" cy="2317115"/>
          </a:xfrm>
          <a:prstGeom prst="rect">
            <a:avLst/>
          </a:prstGeom>
          <a:noFill/>
        </p:spPr>
        <p:txBody>
          <a:bodyPr wrap="square" rtlCol="0">
            <a:noAutofit/>
          </a:bodyPr>
          <a:lstStyle/>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Manual dark web exploration is slow, risky, and inefficient.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Normal crawlers cannot access Tor-based hidden websites.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Existing scrapers struggle with encrypted or dynamic content. </a:t>
            </a:r>
            <a:endParaRPr lang="zh-CN"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Ethical, legal, and large data handling issues reduce effectiveness. </a:t>
            </a:r>
            <a:endParaRPr lang="zh-CN" altLang="en-US" sz="2000">
              <a:latin typeface="Arial" panose="020B0604020202020204" pitchFamily="34" charset="0"/>
              <a:cs typeface="Arial" panose="020B0604020202020204" pitchFamily="34" charset="0"/>
            </a:endParaRPr>
          </a:p>
          <a:p>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Proposed System :</a:t>
            </a:r>
            <a:endParaRPr lang="en-IN" dirty="0">
              <a:solidFill>
                <a:schemeClr val="tx1"/>
              </a:solidFill>
            </a:endParaRPr>
          </a:p>
        </p:txBody>
      </p:sp>
      <p:sp>
        <p:nvSpPr>
          <p:cNvPr id="3" name="Content Placeholder 2"/>
          <p:cNvSpPr>
            <a:spLocks noGrp="1"/>
          </p:cNvSpPr>
          <p:nvPr>
            <p:ph idx="1"/>
          </p:nvPr>
        </p:nvSpPr>
        <p:spPr>
          <a:xfrm>
            <a:off x="791845" y="798195"/>
            <a:ext cx="10165080" cy="2919095"/>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The proposed system develops a secure dark web crawler that can safely navigate the Tor network. It includes an automated scraper module to efficiently extract relevant information from dark web pages. A data analysis layer is added to filter, organize, and process the collected data, while encrypted storage ensures that all information is stored securely. The system also incorporates ethical and legal controls to promote responsible crawling.</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 name="Rectangle 4"/>
          <p:cNvSpPr/>
          <p:nvPr/>
        </p:nvSpPr>
        <p:spPr>
          <a:xfrm>
            <a:off x="184826" y="3560323"/>
            <a:ext cx="3122578" cy="645160"/>
          </a:xfrm>
          <a:prstGeom prst="rect">
            <a:avLst/>
          </a:prstGeom>
        </p:spPr>
        <p:txBody>
          <a:bodyPr wrap="square">
            <a:spAutoFit/>
          </a:bodyPr>
          <a:lstStyle/>
          <a:p>
            <a:r>
              <a:rPr lang="en-US" sz="3600" b="1" dirty="0"/>
              <a:t>Advantage </a:t>
            </a:r>
            <a:r>
              <a:rPr lang="en-IN" altLang="en-US" sz="3600" b="1" dirty="0"/>
              <a:t>:</a:t>
            </a:r>
          </a:p>
        </p:txBody>
      </p:sp>
      <p:sp>
        <p:nvSpPr>
          <p:cNvPr id="4" name="Text Box 3"/>
          <p:cNvSpPr txBox="1"/>
          <p:nvPr/>
        </p:nvSpPr>
        <p:spPr>
          <a:xfrm>
            <a:off x="791210" y="4334510"/>
            <a:ext cx="8952865" cy="1989455"/>
          </a:xfrm>
          <a:prstGeom prst="rect">
            <a:avLst/>
          </a:prstGeom>
          <a:noFill/>
        </p:spPr>
        <p:txBody>
          <a:bodyPr wrap="square" rtlCol="0">
            <a:noAutofit/>
          </a:bodyPr>
          <a:lstStyle/>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Automated crawling saves time and improves speed and accuracy.</a:t>
            </a: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Can safely access Tor-based dark web content.</a:t>
            </a: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Secure storage and organized data improve reliability.</a:t>
            </a:r>
            <a:endParaRPr lang="en-US" altLang="en-US" sz="2000" dirty="0">
              <a:latin typeface="Arial" panose="020B0604020202020204" pitchFamily="34" charset="0"/>
              <a:cs typeface="Arial" panose="020B0604020202020204" pitchFamily="34" charset="0"/>
            </a:endParaRPr>
          </a:p>
          <a:p>
            <a:pPr lvl="2"/>
            <a:endParaRPr lang="en-US"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79" y="609600"/>
            <a:ext cx="8841923" cy="1320800"/>
          </a:xfrm>
        </p:spPr>
        <p:txBody>
          <a:bodyPr/>
          <a:lstStyle/>
          <a:p>
            <a:r>
              <a:rPr lang="en-IN" b="1" dirty="0">
                <a:solidFill>
                  <a:schemeClr val="tx1"/>
                </a:solidFill>
              </a:rPr>
              <a:t>SYSTEM ARCHITECTURE/FLOW DIAGRAM</a:t>
            </a:r>
          </a:p>
        </p:txBody>
      </p:sp>
      <p:pic>
        <p:nvPicPr>
          <p:cNvPr id="7" name="Content Placeholder 6" descr="WhatsApp Image 2026-02-06 at 1.28.45 PM"/>
          <p:cNvPicPr>
            <a:picLocks noGrp="1" noChangeAspect="1"/>
          </p:cNvPicPr>
          <p:nvPr>
            <p:ph idx="1"/>
          </p:nvPr>
        </p:nvPicPr>
        <p:blipFill>
          <a:blip r:embed="rId2"/>
          <a:stretch>
            <a:fillRect/>
          </a:stretch>
        </p:blipFill>
        <p:spPr>
          <a:xfrm>
            <a:off x="1722755" y="1650365"/>
            <a:ext cx="7392035" cy="4602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a:t>
            </a:r>
            <a:endParaRPr lang="en-IN" dirty="0">
              <a:solidFill>
                <a:schemeClr val="tx1"/>
              </a:solidFill>
            </a:endParaRPr>
          </a:p>
        </p:txBody>
      </p:sp>
      <p:sp>
        <p:nvSpPr>
          <p:cNvPr id="3" name="Content Placeholder 2"/>
          <p:cNvSpPr>
            <a:spLocks noGrp="1"/>
          </p:cNvSpPr>
          <p:nvPr>
            <p:ph idx="1"/>
          </p:nvPr>
        </p:nvSpPr>
        <p:spPr>
          <a:xfrm>
            <a:off x="274320" y="635"/>
            <a:ext cx="8588375" cy="826135"/>
          </a:xfrm>
        </p:spPr>
        <p:txBody>
          <a:bodyPr>
            <a:normAutofit fontScale="25000" lnSpcReduction="20000"/>
          </a:bodyPr>
          <a:lstStyle/>
          <a:p>
            <a:pPr algn="just">
              <a:lnSpc>
                <a:spcPct val="150000"/>
              </a:lnSpc>
              <a:buClr>
                <a:schemeClr val="tx1"/>
              </a:buClr>
              <a:buNone/>
            </a:pPr>
            <a:r>
              <a:rPr lang="en-IN" sz="14400" b="1" dirty="0">
                <a:solidFill>
                  <a:schemeClr val="tx1"/>
                </a:solidFill>
              </a:rPr>
              <a:t>Modules :</a:t>
            </a:r>
            <a:endParaRPr lang="en-US" sz="14400" dirty="0">
              <a:solidFill>
                <a:schemeClr val="tx1"/>
              </a:solidFill>
            </a:endParaRPr>
          </a:p>
          <a:p>
            <a:pPr algn="just">
              <a:lnSpc>
                <a:spcPct val="150000"/>
              </a:lnSpc>
              <a:buClr>
                <a:schemeClr val="tx1"/>
              </a:buClr>
              <a:buFont typeface="Wingdings" panose="05000000000000000000" pitchFamily="2" charset="2"/>
              <a:buChar char="q"/>
            </a:pPr>
            <a:endParaRPr lang="en-IN" dirty="0"/>
          </a:p>
        </p:txBody>
      </p:sp>
      <p:sp>
        <p:nvSpPr>
          <p:cNvPr id="5" name="Rectangle 4"/>
          <p:cNvSpPr/>
          <p:nvPr/>
        </p:nvSpPr>
        <p:spPr>
          <a:xfrm>
            <a:off x="275626" y="3599235"/>
            <a:ext cx="3031778" cy="646331"/>
          </a:xfrm>
          <a:prstGeom prst="rect">
            <a:avLst/>
          </a:prstGeom>
        </p:spPr>
        <p:txBody>
          <a:bodyPr wrap="square">
            <a:spAutoFit/>
          </a:bodyPr>
          <a:lstStyle/>
          <a:p>
            <a:r>
              <a:rPr lang="en-US" sz="3600" b="1" dirty="0"/>
              <a:t> </a:t>
            </a:r>
            <a:endParaRPr lang="en-US" sz="3600" dirty="0"/>
          </a:p>
        </p:txBody>
      </p:sp>
      <p:sp>
        <p:nvSpPr>
          <p:cNvPr id="6" name="Text Box 5"/>
          <p:cNvSpPr txBox="1"/>
          <p:nvPr/>
        </p:nvSpPr>
        <p:spPr>
          <a:xfrm>
            <a:off x="964565" y="948055"/>
            <a:ext cx="9002395" cy="5367020"/>
          </a:xfrm>
          <a:prstGeom prst="rect">
            <a:avLst/>
          </a:prstGeom>
          <a:noFill/>
        </p:spPr>
        <p:txBody>
          <a:bodyPr wrap="square" rtlCol="0">
            <a:noAutofit/>
          </a:bodyPr>
          <a:lstStyle/>
          <a:p>
            <a:r>
              <a:rPr lang="en-US" altLang="en-US" sz="2000" b="1"/>
              <a:t>M</a:t>
            </a:r>
            <a:r>
              <a:rPr lang="en-US" altLang="en-US" sz="2000" b="1">
                <a:latin typeface="Arial" panose="020B0604020202020204" pitchFamily="34" charset="0"/>
                <a:cs typeface="Arial" panose="020B0604020202020204" pitchFamily="34" charset="0"/>
              </a:rPr>
              <a:t>odule 1 – Crawler Module</a:t>
            </a: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Navigates dark web links safely using the Tor network.</a:t>
            </a: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2 – Scraper Module</a:t>
            </a: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Extracts relevant and structured data from crawled pages.</a:t>
            </a: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3 – Data Analysis Module</a:t>
            </a: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Filters, processes, and analyzes collected information using AI techniques.</a:t>
            </a: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4 – Storage &amp; Security Module</a:t>
            </a: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Stores data securely in encrypted databases with controlled access.</a:t>
            </a: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5 – Reporting &amp; Monitoring Module</a:t>
            </a: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Generates intelligence reports and monitors system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120" y="185420"/>
            <a:ext cx="8334375" cy="793115"/>
          </a:xfrm>
        </p:spPr>
        <p:txBody>
          <a:bodyPr>
            <a:normAutofit fontScale="90000"/>
          </a:bodyPr>
          <a:lstStyle/>
          <a:p>
            <a:r>
              <a:rPr lang="en-US" altLang="en-US" b="1" dirty="0">
                <a:solidFill>
                  <a:schemeClr val="tx1"/>
                </a:solidFill>
              </a:rPr>
              <a:t>Module 1 – Crawler Module</a:t>
            </a:r>
            <a:br>
              <a:rPr lang="en-US" sz="2220" b="1" dirty="0">
                <a:solidFill>
                  <a:schemeClr val="tx1"/>
                </a:solidFill>
              </a:rPr>
            </a:br>
            <a:endParaRPr lang="en-IN" sz="2220" dirty="0">
              <a:solidFill>
                <a:schemeClr val="tx1"/>
              </a:solidFill>
            </a:endParaRPr>
          </a:p>
        </p:txBody>
      </p:sp>
      <p:sp>
        <p:nvSpPr>
          <p:cNvPr id="3" name="Content Placeholder 2"/>
          <p:cNvSpPr>
            <a:spLocks noGrp="1"/>
          </p:cNvSpPr>
          <p:nvPr>
            <p:ph idx="1"/>
          </p:nvPr>
        </p:nvSpPr>
        <p:spPr>
          <a:xfrm>
            <a:off x="749935" y="818515"/>
            <a:ext cx="10281285" cy="4857115"/>
          </a:xfrm>
        </p:spPr>
        <p:txBody>
          <a:bodyPr>
            <a:noAutofit/>
          </a:bodyPr>
          <a:lstStyle/>
          <a:p>
            <a:pPr marL="0" indent="0">
              <a:lnSpc>
                <a:spcPct val="60000"/>
              </a:lnSpc>
              <a:buNone/>
            </a:pPr>
            <a:r>
              <a:rPr lang="en-US" altLang="en-US" sz="2000" b="1" dirty="0">
                <a:latin typeface="Arial" panose="020B0604020202020204" pitchFamily="34" charset="0"/>
                <a:cs typeface="Arial" panose="020B0604020202020204" pitchFamily="34" charset="0"/>
              </a:rPr>
              <a:t>Purpose:</a:t>
            </a:r>
            <a:r>
              <a:rPr lang="en-US" altLang="en-US" sz="2000" dirty="0">
                <a:latin typeface="Arial" panose="020B0604020202020204" pitchFamily="34" charset="0"/>
                <a:cs typeface="Arial" panose="020B0604020202020204" pitchFamily="34" charset="0"/>
              </a:rPr>
              <a:t> Discover and securely access dark web (.onion) websites automatically.</a:t>
            </a:r>
          </a:p>
          <a:p>
            <a:pPr marL="0" indent="0">
              <a:lnSpc>
                <a:spcPct val="60000"/>
              </a:lnSpc>
              <a:buNone/>
            </a:pP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US" altLang="en-US" sz="2000" b="1" dirty="0">
                <a:latin typeface="Arial" panose="020B0604020202020204" pitchFamily="34" charset="0"/>
                <a:cs typeface="Arial" panose="020B0604020202020204" pitchFamily="34" charset="0"/>
              </a:rPr>
              <a:t>Key Responsibilities:</a:t>
            </a:r>
          </a:p>
          <a:p>
            <a:pPr>
              <a:lnSpc>
                <a:spcPct val="60000"/>
              </a:lnSpc>
            </a:pPr>
            <a:r>
              <a:rPr lang="en-US" altLang="en-US" sz="2000" dirty="0">
                <a:latin typeface="Arial" panose="020B0604020202020204" pitchFamily="34" charset="0"/>
                <a:cs typeface="Arial" panose="020B0604020202020204" pitchFamily="34" charset="0"/>
              </a:rPr>
              <a:t> Establish secure connection using Tor network.</a:t>
            </a:r>
          </a:p>
          <a:p>
            <a:pPr>
              <a:lnSpc>
                <a:spcPct val="60000"/>
              </a:lnSpc>
            </a:pPr>
            <a:r>
              <a:rPr lang="en-US" altLang="en-US" sz="2000" dirty="0">
                <a:latin typeface="Arial" panose="020B0604020202020204" pitchFamily="34" charset="0"/>
                <a:cs typeface="Arial" panose="020B0604020202020204" pitchFamily="34" charset="0"/>
              </a:rPr>
              <a:t> Start crawling from predefined seed URLs.</a:t>
            </a:r>
          </a:p>
          <a:p>
            <a:pPr>
              <a:lnSpc>
                <a:spcPct val="60000"/>
              </a:lnSpc>
            </a:pPr>
            <a:r>
              <a:rPr lang="en-US" altLang="en-US" sz="2000" dirty="0">
                <a:latin typeface="Arial" panose="020B0604020202020204" pitchFamily="34" charset="0"/>
                <a:cs typeface="Arial" panose="020B0604020202020204" pitchFamily="34" charset="0"/>
              </a:rPr>
              <a:t> Discover new linked pages automatically.</a:t>
            </a:r>
          </a:p>
          <a:p>
            <a:pPr>
              <a:lnSpc>
                <a:spcPct val="60000"/>
              </a:lnSpc>
            </a:pPr>
            <a:r>
              <a:rPr lang="en-US" altLang="en-US" sz="2000" dirty="0">
                <a:latin typeface="Arial" panose="020B0604020202020204" pitchFamily="34" charset="0"/>
                <a:cs typeface="Arial" panose="020B0604020202020204" pitchFamily="34" charset="0"/>
              </a:rPr>
              <a:t> Avoid duplicate and invalid links.</a:t>
            </a:r>
          </a:p>
          <a:p>
            <a:pPr>
              <a:lnSpc>
                <a:spcPct val="60000"/>
              </a:lnSpc>
            </a:pP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US" altLang="en-US" sz="2000" b="1" dirty="0">
                <a:latin typeface="Arial" panose="020B0604020202020204" pitchFamily="34" charset="0"/>
                <a:cs typeface="Arial" panose="020B0604020202020204" pitchFamily="34" charset="0"/>
              </a:rPr>
              <a:t>Core Flows:</a:t>
            </a:r>
          </a:p>
          <a:p>
            <a:pPr>
              <a:lnSpc>
                <a:spcPct val="60000"/>
              </a:lnSpc>
            </a:pPr>
            <a:r>
              <a:rPr lang="en-US" altLang="en-US" sz="2000" dirty="0">
                <a:latin typeface="Arial" panose="020B0604020202020204" pitchFamily="34" charset="0"/>
                <a:cs typeface="Arial" panose="020B0604020202020204" pitchFamily="34" charset="0"/>
              </a:rPr>
              <a:t> Initialize Tor connection and load seed URLs.</a:t>
            </a:r>
          </a:p>
          <a:p>
            <a:pPr>
              <a:lnSpc>
                <a:spcPct val="60000"/>
              </a:lnSpc>
            </a:pPr>
            <a:r>
              <a:rPr lang="en-US" altLang="en-US" sz="2000" dirty="0">
                <a:latin typeface="Arial" panose="020B0604020202020204" pitchFamily="34" charset="0"/>
                <a:cs typeface="Arial" panose="020B0604020202020204" pitchFamily="34" charset="0"/>
              </a:rPr>
              <a:t> Crawl links within defined depth limits.</a:t>
            </a:r>
          </a:p>
          <a:p>
            <a:pPr>
              <a:lnSpc>
                <a:spcPct val="60000"/>
              </a:lnSpc>
            </a:pPr>
            <a:r>
              <a:rPr lang="en-US" altLang="en-US" sz="2000" dirty="0">
                <a:latin typeface="Arial" panose="020B0604020202020204" pitchFamily="34" charset="0"/>
                <a:cs typeface="Arial" panose="020B0604020202020204" pitchFamily="34" charset="0"/>
              </a:rPr>
              <a:t> Store visited URLs to prevent repetition.</a:t>
            </a:r>
          </a:p>
          <a:p>
            <a:pPr>
              <a:lnSpc>
                <a:spcPct val="60000"/>
              </a:lnSpc>
            </a:pPr>
            <a:r>
              <a:rPr lang="en-US" altLang="en-US" sz="2000" dirty="0">
                <a:latin typeface="Arial" panose="020B0604020202020204" pitchFamily="34" charset="0"/>
                <a:cs typeface="Arial" panose="020B0604020202020204" pitchFamily="34" charset="0"/>
              </a:rPr>
              <a:t> Handle broken or inaccessible pages efficiently</a:t>
            </a:r>
          </a:p>
          <a:p>
            <a:pPr>
              <a:lnSpc>
                <a:spcPct val="60000"/>
              </a:lnSpc>
            </a:pPr>
            <a:r>
              <a:rPr lang="en-US" altLang="en-US" sz="2000" dirty="0">
                <a:latin typeface="Arial" panose="020B0604020202020204" pitchFamily="34" charset="0"/>
                <a:cs typeface="Arial" panose="020B0604020202020204" pitchFamily="34" charset="0"/>
              </a:rPr>
              <a:t>.</a:t>
            </a:r>
          </a:p>
          <a:p>
            <a:pPr marL="0" indent="0">
              <a:lnSpc>
                <a:spcPct val="60000"/>
              </a:lnSpc>
              <a:buNone/>
            </a:pPr>
            <a:r>
              <a:rPr lang="en-US" altLang="en-US" sz="2000" b="1" dirty="0">
                <a:latin typeface="Arial" panose="020B0604020202020204" pitchFamily="34" charset="0"/>
                <a:cs typeface="Arial" panose="020B0604020202020204" pitchFamily="34" charset="0"/>
              </a:rPr>
              <a:t>Security &amp; Compliance:</a:t>
            </a:r>
          </a:p>
          <a:p>
            <a:pPr>
              <a:lnSpc>
                <a:spcPct val="60000"/>
              </a:lnSpc>
            </a:pPr>
            <a:r>
              <a:rPr lang="en-US" altLang="en-US" sz="2000" dirty="0">
                <a:latin typeface="Arial" panose="020B0604020202020204" pitchFamily="34" charset="0"/>
                <a:cs typeface="Arial" panose="020B0604020202020204" pitchFamily="34" charset="0"/>
              </a:rPr>
              <a:t> Maintain anonymity during crawling.</a:t>
            </a:r>
          </a:p>
          <a:p>
            <a:pPr>
              <a:lnSpc>
                <a:spcPct val="60000"/>
              </a:lnSpc>
            </a:pPr>
            <a:r>
              <a:rPr lang="en-US" altLang="en-US" sz="2000" dirty="0">
                <a:latin typeface="Arial" panose="020B0604020202020204" pitchFamily="34" charset="0"/>
                <a:cs typeface="Arial" panose="020B0604020202020204" pitchFamily="34" charset="0"/>
              </a:rPr>
              <a:t> Follow ethical crawling guidelines.</a:t>
            </a:r>
          </a:p>
          <a:p>
            <a:pPr>
              <a:lnSpc>
                <a:spcPct val="60000"/>
              </a:lnSpc>
            </a:pPr>
            <a:r>
              <a:rPr lang="en-US" altLang="en-US" sz="2000" dirty="0">
                <a:latin typeface="Arial" panose="020B0604020202020204" pitchFamily="34" charset="0"/>
                <a:cs typeface="Arial" panose="020B0604020202020204" pitchFamily="34" charset="0"/>
              </a:rPr>
              <a:t> Log crawling activity for monitoring and auditing.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7030" y="176530"/>
            <a:ext cx="6245860" cy="631825"/>
          </a:xfrm>
          <a:prstGeom prst="rect">
            <a:avLst/>
          </a:prstGeom>
          <a:noFill/>
        </p:spPr>
        <p:txBody>
          <a:bodyPr wrap="square" rtlCol="0">
            <a:noAutofit/>
          </a:bodyPr>
          <a:lstStyle/>
          <a:p>
            <a:r>
              <a:rPr lang="en-US" altLang="en-US" sz="3600" b="1" dirty="0">
                <a:sym typeface="+mn-ea"/>
              </a:rPr>
              <a:t>Module 2 – Scraper Module</a:t>
            </a:r>
          </a:p>
        </p:txBody>
      </p:sp>
      <p:sp>
        <p:nvSpPr>
          <p:cNvPr id="6" name="Text Box 5"/>
          <p:cNvSpPr txBox="1"/>
          <p:nvPr/>
        </p:nvSpPr>
        <p:spPr>
          <a:xfrm>
            <a:off x="894080" y="990600"/>
            <a:ext cx="8195310" cy="5867400"/>
          </a:xfrm>
          <a:prstGeom prst="rect">
            <a:avLst/>
          </a:prstGeom>
          <a:noFill/>
        </p:spPr>
        <p:txBody>
          <a:bodyPr wrap="square" rtlCol="0">
            <a:noAutofit/>
          </a:bodyPr>
          <a:lstStyle/>
          <a:p>
            <a:pPr indent="0">
              <a:lnSpc>
                <a:spcPct val="90000"/>
              </a:lnSpc>
              <a:buFont typeface="Wingdings" panose="05000000000000000000" charset="0"/>
              <a:buNone/>
            </a:pPr>
            <a:r>
              <a:rPr lang="en-US" altLang="en-US" sz="2000" b="1"/>
              <a:t>P</a:t>
            </a:r>
            <a:r>
              <a:rPr lang="en-US" altLang="en-US" sz="2000" b="1">
                <a:latin typeface="Arial" panose="020B0604020202020204" pitchFamily="34" charset="0"/>
                <a:cs typeface="Arial" panose="020B0604020202020204" pitchFamily="34" charset="0"/>
              </a:rPr>
              <a:t>urpose:</a:t>
            </a:r>
            <a:r>
              <a:rPr lang="en-US" altLang="en-US" sz="2000">
                <a:latin typeface="Arial" panose="020B0604020202020204" pitchFamily="34" charset="0"/>
                <a:cs typeface="Arial" panose="020B0604020202020204" pitchFamily="34" charset="0"/>
              </a:rPr>
              <a:t> Extract relevant and meaningful data from crawled web pages.</a:t>
            </a:r>
          </a:p>
          <a:p>
            <a:pPr marL="285750" indent="-285750">
              <a:lnSpc>
                <a:spcPct val="90000"/>
              </a:lnSpc>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Key Responsibilities:</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Parse HTML content from collected pages.</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Remove scripts, ads, and unwanted elements.</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Extract useful text, titles, and discussion content.</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Convert raw data into structured format.</a:t>
            </a:r>
          </a:p>
          <a:p>
            <a:pPr marL="285750" indent="-28575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Core Flows:</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Receive raw page data from crawler.</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Clean and preprocess extracted content.</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Filter only relevant cybersecurity-related information.</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Store structured output for analysis.</a:t>
            </a:r>
          </a:p>
          <a:p>
            <a:pPr marL="285750" indent="-285750">
              <a:lnSpc>
                <a:spcPct val="90000"/>
              </a:lnSpc>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Security &amp; Compliance:</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Avoid collecting unnecessary sensitive data.</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Maintain logs of extracted information.</a:t>
            </a: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Ensure responsible and ethical data usage.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module 2"/>
          <p:cNvPicPr>
            <a:picLocks noGrp="1" noChangeAspect="1"/>
          </p:cNvPicPr>
          <p:nvPr>
            <p:ph idx="1"/>
          </p:nvPr>
        </p:nvPicPr>
        <p:blipFill>
          <a:blip r:embed="rId2"/>
          <a:stretch>
            <a:fillRect/>
          </a:stretch>
        </p:blipFill>
        <p:spPr>
          <a:xfrm>
            <a:off x="556895" y="486410"/>
            <a:ext cx="10751820" cy="6048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248285"/>
            <a:ext cx="8596630" cy="464185"/>
          </a:xfrm>
        </p:spPr>
        <p:txBody>
          <a:bodyPr>
            <a:normAutofit fontScale="90000"/>
          </a:bodyPr>
          <a:lstStyle/>
          <a:p>
            <a:endParaRPr lang="en-US"/>
          </a:p>
        </p:txBody>
      </p:sp>
      <p:pic>
        <p:nvPicPr>
          <p:cNvPr id="4" name="Content Placeholder 3" descr="image of moduke 1"/>
          <p:cNvPicPr>
            <a:picLocks noGrp="1" noChangeAspect="1"/>
          </p:cNvPicPr>
          <p:nvPr>
            <p:ph idx="1"/>
          </p:nvPr>
        </p:nvPicPr>
        <p:blipFill>
          <a:blip r:embed="rId2"/>
          <a:stretch>
            <a:fillRect/>
          </a:stretch>
        </p:blipFill>
        <p:spPr>
          <a:xfrm>
            <a:off x="295910" y="248285"/>
            <a:ext cx="11600180" cy="63265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18795" y="201930"/>
            <a:ext cx="8755380" cy="1259840"/>
          </a:xfrm>
        </p:spPr>
        <p:txBody>
          <a:bodyPr/>
          <a:lstStyle/>
          <a:p>
            <a:r>
              <a:rPr lang="en-US" altLang="en-US" b="1" dirty="0">
                <a:solidFill>
                  <a:schemeClr val="tx1"/>
                </a:solidFill>
              </a:rPr>
              <a:t>Module 3 – Data Analysis Module</a:t>
            </a:r>
          </a:p>
        </p:txBody>
      </p:sp>
      <p:sp>
        <p:nvSpPr>
          <p:cNvPr id="3" name="Content Placeholder 2"/>
          <p:cNvSpPr>
            <a:spLocks noGrp="1"/>
          </p:cNvSpPr>
          <p:nvPr>
            <p:ph idx="1"/>
          </p:nvPr>
        </p:nvSpPr>
        <p:spPr>
          <a:xfrm>
            <a:off x="1762556" y="1930400"/>
            <a:ext cx="9270534" cy="3880773"/>
          </a:xfrm>
        </p:spPr>
        <p:txBody>
          <a:bodyPr/>
          <a:lstStyle/>
          <a:p>
            <a:pPr marL="0" indent="0">
              <a:buNone/>
            </a:pPr>
            <a:endParaRPr lang="en-IN" sz="2000" dirty="0"/>
          </a:p>
          <a:p>
            <a:pPr marL="0" indent="0">
              <a:buNone/>
            </a:pPr>
            <a:endParaRPr lang="en-IN" dirty="0"/>
          </a:p>
          <a:p>
            <a:endParaRPr lang="en-IN" dirty="0"/>
          </a:p>
        </p:txBody>
      </p:sp>
      <p:sp>
        <p:nvSpPr>
          <p:cNvPr id="4" name="Rectangle 2"/>
          <p:cNvSpPr>
            <a:spLocks noChangeArrowheads="1"/>
          </p:cNvSpPr>
          <p:nvPr/>
        </p:nvSpPr>
        <p:spPr bwMode="auto">
          <a:xfrm>
            <a:off x="0" y="-57837"/>
            <a:ext cx="999411" cy="572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8242" tIns="125373" rIns="91440" bIns="45720" numCol="1" anchor="ctr" anchorCtr="0" compatLnSpc="1">
            <a:spAutoFit/>
          </a:bodyPr>
          <a:lstStyle>
            <a:lvl1pPr eaLnBrk="0" fontAlgn="base" hangingPunct="0">
              <a:spcBef>
                <a:spcPct val="0"/>
              </a:spcBef>
              <a:spcAft>
                <a:spcPct val="0"/>
              </a:spcAft>
              <a:tabLst>
                <a:tab pos="1299845" algn="l"/>
              </a:tabLst>
              <a:defRPr>
                <a:solidFill>
                  <a:schemeClr val="tx1"/>
                </a:solidFill>
                <a:latin typeface="Arial" panose="020B0604020202020204" pitchFamily="34" charset="0"/>
              </a:defRPr>
            </a:lvl1pPr>
            <a:lvl2pPr eaLnBrk="0" fontAlgn="base" hangingPunct="0">
              <a:spcBef>
                <a:spcPct val="0"/>
              </a:spcBef>
              <a:spcAft>
                <a:spcPct val="0"/>
              </a:spcAft>
              <a:tabLst>
                <a:tab pos="1299845" algn="l"/>
              </a:tabLst>
              <a:defRPr>
                <a:solidFill>
                  <a:schemeClr val="tx1"/>
                </a:solidFill>
                <a:latin typeface="Arial" panose="020B0604020202020204" pitchFamily="34" charset="0"/>
              </a:defRPr>
            </a:lvl2pPr>
            <a:lvl3pPr eaLnBrk="0" fontAlgn="base" hangingPunct="0">
              <a:spcBef>
                <a:spcPct val="0"/>
              </a:spcBef>
              <a:spcAft>
                <a:spcPct val="0"/>
              </a:spcAft>
              <a:tabLst>
                <a:tab pos="1299845" algn="l"/>
              </a:tabLst>
              <a:defRPr>
                <a:solidFill>
                  <a:schemeClr val="tx1"/>
                </a:solidFill>
                <a:latin typeface="Arial" panose="020B0604020202020204" pitchFamily="34" charset="0"/>
              </a:defRPr>
            </a:lvl3pPr>
            <a:lvl4pPr eaLnBrk="0" fontAlgn="base" hangingPunct="0">
              <a:spcBef>
                <a:spcPct val="0"/>
              </a:spcBef>
              <a:spcAft>
                <a:spcPct val="0"/>
              </a:spcAft>
              <a:tabLst>
                <a:tab pos="1299845" algn="l"/>
              </a:tabLst>
              <a:defRPr>
                <a:solidFill>
                  <a:schemeClr val="tx1"/>
                </a:solidFill>
                <a:latin typeface="Arial" panose="020B0604020202020204" pitchFamily="34" charset="0"/>
              </a:defRPr>
            </a:lvl4pPr>
            <a:lvl5pPr eaLnBrk="0" fontAlgn="base" hangingPunct="0">
              <a:spcBef>
                <a:spcPct val="0"/>
              </a:spcBef>
              <a:spcAft>
                <a:spcPct val="0"/>
              </a:spcAft>
              <a:tabLst>
                <a:tab pos="1299845" algn="l"/>
              </a:tabLst>
              <a:defRPr>
                <a:solidFill>
                  <a:schemeClr val="tx1"/>
                </a:solidFill>
                <a:latin typeface="Arial" panose="020B0604020202020204" pitchFamily="34" charset="0"/>
              </a:defRPr>
            </a:lvl5pPr>
            <a:lvl6pPr eaLnBrk="0" fontAlgn="base" hangingPunct="0">
              <a:spcBef>
                <a:spcPct val="0"/>
              </a:spcBef>
              <a:spcAft>
                <a:spcPct val="0"/>
              </a:spcAft>
              <a:tabLst>
                <a:tab pos="1299845" algn="l"/>
              </a:tabLst>
              <a:defRPr>
                <a:solidFill>
                  <a:schemeClr val="tx1"/>
                </a:solidFill>
                <a:latin typeface="Arial" panose="020B0604020202020204" pitchFamily="34" charset="0"/>
              </a:defRPr>
            </a:lvl6pPr>
            <a:lvl7pPr eaLnBrk="0" fontAlgn="base" hangingPunct="0">
              <a:spcBef>
                <a:spcPct val="0"/>
              </a:spcBef>
              <a:spcAft>
                <a:spcPct val="0"/>
              </a:spcAft>
              <a:tabLst>
                <a:tab pos="1299845" algn="l"/>
              </a:tabLst>
              <a:defRPr>
                <a:solidFill>
                  <a:schemeClr val="tx1"/>
                </a:solidFill>
                <a:latin typeface="Arial" panose="020B0604020202020204" pitchFamily="34" charset="0"/>
              </a:defRPr>
            </a:lvl7pPr>
            <a:lvl8pPr eaLnBrk="0" fontAlgn="base" hangingPunct="0">
              <a:spcBef>
                <a:spcPct val="0"/>
              </a:spcBef>
              <a:spcAft>
                <a:spcPct val="0"/>
              </a:spcAft>
              <a:tabLst>
                <a:tab pos="1299845" algn="l"/>
              </a:tabLst>
              <a:defRPr>
                <a:solidFill>
                  <a:schemeClr val="tx1"/>
                </a:solidFill>
                <a:latin typeface="Arial" panose="020B0604020202020204" pitchFamily="34" charset="0"/>
              </a:defRPr>
            </a:lvl8pPr>
            <a:lvl9pPr eaLnBrk="0" fontAlgn="base" hangingPunct="0">
              <a:spcBef>
                <a:spcPct val="0"/>
              </a:spcBef>
              <a:spcAft>
                <a:spcPct val="0"/>
              </a:spcAft>
              <a:tabLst>
                <a:tab pos="129984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1299845" algn="l"/>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299845"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 Box 6"/>
          <p:cNvSpPr txBox="1"/>
          <p:nvPr/>
        </p:nvSpPr>
        <p:spPr>
          <a:xfrm>
            <a:off x="912495" y="1054735"/>
            <a:ext cx="8661400" cy="5574030"/>
          </a:xfrm>
          <a:prstGeom prst="rect">
            <a:avLst/>
          </a:prstGeom>
          <a:noFill/>
        </p:spPr>
        <p:txBody>
          <a:bodyPr wrap="square" rtlCol="0">
            <a:noAutofit/>
          </a:bodyPr>
          <a:lstStyle/>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Purpose:</a:t>
            </a:r>
            <a:r>
              <a:rPr lang="en-US" altLang="en-US" sz="2000">
                <a:latin typeface="Arial" panose="020B0604020202020204" pitchFamily="34" charset="0"/>
                <a:cs typeface="Arial" panose="020B0604020202020204" pitchFamily="34" charset="0"/>
              </a:rPr>
              <a:t> Analyze extracted data to detect threats, risks, and patterns.</a:t>
            </a: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Key Responsibilities: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Perform text cleaning and preprocessing.</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Identify suspicious keywords and activities.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Apply NLP and AI-based analysis techniques.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Classify content into meaningful categories.</a:t>
            </a: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Core Flows: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Process structured data from scraper.</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Run keyword and pattern detection algorithms.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Perform sentiment and topic analysis.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Generate actionable threat intelligence insights.</a:t>
            </a: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Security &amp; Compliance:</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Maintain transparency in analysis process.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Reduce bias in AI-based predictions.</a:t>
            </a: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Follow cybersecurity research standards.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WhatsApp Image 2026-03-05 at 10.53.03 PM"/>
          <p:cNvPicPr>
            <a:picLocks noGrp="1" noChangeAspect="1"/>
          </p:cNvPicPr>
          <p:nvPr>
            <p:ph idx="1"/>
          </p:nvPr>
        </p:nvPicPr>
        <p:blipFill>
          <a:blip r:embed="rId2"/>
          <a:stretch>
            <a:fillRect/>
          </a:stretch>
        </p:blipFill>
        <p:spPr>
          <a:xfrm>
            <a:off x="1945640" y="93345"/>
            <a:ext cx="7328535" cy="64357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230" y="345440"/>
            <a:ext cx="8830945" cy="1584960"/>
          </a:xfrm>
        </p:spPr>
        <p:txBody>
          <a:bodyPr/>
          <a:lstStyle/>
          <a:p>
            <a:r>
              <a:rPr lang="en-US" altLang="en-US" b="1">
                <a:solidFill>
                  <a:schemeClr val="tx1"/>
                </a:solidFill>
              </a:rPr>
              <a:t>Module 4 – Storage &amp; Security Module</a:t>
            </a:r>
          </a:p>
        </p:txBody>
      </p:sp>
      <p:sp>
        <p:nvSpPr>
          <p:cNvPr id="4" name="Text Box 3"/>
          <p:cNvSpPr txBox="1"/>
          <p:nvPr/>
        </p:nvSpPr>
        <p:spPr>
          <a:xfrm>
            <a:off x="981710" y="1063625"/>
            <a:ext cx="8554720" cy="5794375"/>
          </a:xfrm>
          <a:prstGeom prst="rect">
            <a:avLst/>
          </a:prstGeom>
          <a:noFill/>
        </p:spPr>
        <p:txBody>
          <a:bodyPr wrap="square" rtlCol="0">
            <a:noAutofit/>
          </a:bodyPr>
          <a:lstStyle/>
          <a:p>
            <a:r>
              <a:rPr lang="en-US" altLang="en-US" sz="2000" b="1">
                <a:latin typeface="Arial" panose="020B0604020202020204" pitchFamily="34" charset="0"/>
                <a:cs typeface="Arial" panose="020B0604020202020204" pitchFamily="34" charset="0"/>
              </a:rPr>
              <a:t>Purpose:</a:t>
            </a:r>
            <a:r>
              <a:rPr lang="en-US" altLang="en-US" sz="2000">
                <a:latin typeface="Arial" panose="020B0604020202020204" pitchFamily="34" charset="0"/>
                <a:cs typeface="Arial" panose="020B0604020202020204" pitchFamily="34" charset="0"/>
              </a:rPr>
              <a:t> Securely store and protect collected and analyzed information.</a:t>
            </a:r>
          </a:p>
          <a:p>
            <a:endParaRPr lang="en-US" altLang="en-US" sz="2000" b="1">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a:latin typeface="Arial" panose="020B0604020202020204" pitchFamily="34" charset="0"/>
                <a:cs typeface="Arial" panose="020B0604020202020204" pitchFamily="34" charset="0"/>
              </a:rPr>
              <a:t>Key Responsibilities:</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Encrypt sensitive data before storage.</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Implement strong authentication and access control.</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Maintain backup and recovery mechanisms.</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Ensure integrity of stored data.</a:t>
            </a:r>
          </a:p>
          <a:p>
            <a:pPr marL="342900" indent="-342900">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a:latin typeface="Arial" panose="020B0604020202020204" pitchFamily="34" charset="0"/>
                <a:cs typeface="Arial" panose="020B0604020202020204" pitchFamily="34" charset="0"/>
              </a:rPr>
              <a:t>Core Flows:</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Receive processed data from analysis module.</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Encrypt and store data in secure databases.</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Index data for quick retrieval.</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Monitor and log database access activities.</a:t>
            </a:r>
          </a:p>
          <a:p>
            <a:pPr marL="342900" indent="-342900">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a:latin typeface="Arial" panose="020B0604020202020204" pitchFamily="34" charset="0"/>
                <a:cs typeface="Arial" panose="020B0604020202020204" pitchFamily="34" charset="0"/>
              </a:rPr>
              <a:t>Security &amp; Compliance:</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Protect sensitive information from unauthorized access.</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Maintain audit logs for accountability.</a:t>
            </a: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 Follow data protection and privacy guidelines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586740" y="307975"/>
            <a:ext cx="9543415" cy="453390"/>
          </a:xfrm>
          <a:prstGeom prst="rect">
            <a:avLst/>
          </a:prstGeom>
          <a:noFill/>
        </p:spPr>
        <p:txBody>
          <a:bodyPr wrap="square" rtlCol="0">
            <a:noAutofit/>
          </a:bodyPr>
          <a:lstStyle/>
          <a:p>
            <a:r>
              <a:rPr lang="en-US" altLang="en-US" sz="3600" b="1"/>
              <a:t>Module 5 – Reporting &amp; Monitoring Module</a:t>
            </a:r>
          </a:p>
        </p:txBody>
      </p:sp>
      <p:sp>
        <p:nvSpPr>
          <p:cNvPr id="7" name="Text Box 6"/>
          <p:cNvSpPr txBox="1"/>
          <p:nvPr/>
        </p:nvSpPr>
        <p:spPr>
          <a:xfrm>
            <a:off x="922655" y="1127760"/>
            <a:ext cx="9207500" cy="5631180"/>
          </a:xfrm>
          <a:prstGeom prst="rect">
            <a:avLst/>
          </a:prstGeom>
          <a:noFill/>
        </p:spPr>
        <p:txBody>
          <a:bodyPr wrap="square" rtlCol="0">
            <a:spAutoFit/>
          </a:bodyPr>
          <a:lstStyle/>
          <a:p>
            <a:pPr indent="0">
              <a:buFont typeface="Wingdings" panose="05000000000000000000" charset="0"/>
              <a:buNone/>
            </a:pPr>
            <a:r>
              <a:rPr lang="en-US" altLang="en-US" sz="2000" b="1" dirty="0">
                <a:latin typeface="Arial" panose="020B0604020202020204" pitchFamily="34" charset="0"/>
                <a:cs typeface="Arial" panose="020B0604020202020204" pitchFamily="34" charset="0"/>
              </a:rPr>
              <a:t>Purpose:</a:t>
            </a:r>
            <a:r>
              <a:rPr lang="en-US" altLang="en-US" sz="2000" dirty="0">
                <a:latin typeface="Arial" panose="020B0604020202020204" pitchFamily="34" charset="0"/>
                <a:cs typeface="Arial" panose="020B0604020202020204" pitchFamily="34" charset="0"/>
              </a:rPr>
              <a:t> Generate intelligence reports and monitor overall system performance.</a:t>
            </a:r>
          </a:p>
          <a:p>
            <a:pPr marL="342900" indent="-342900">
              <a:buFont typeface="Wingdings" panose="05000000000000000000" charset="0"/>
              <a:buChar char="Ø"/>
            </a:pPr>
            <a:endParaRPr lang="en-US" altLang="en-US" sz="2000" dirty="0">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dirty="0">
                <a:latin typeface="Arial" panose="020B0604020202020204" pitchFamily="34" charset="0"/>
                <a:cs typeface="Arial" panose="020B0604020202020204" pitchFamily="34" charset="0"/>
              </a:rPr>
              <a:t>Key Responsibilities</a:t>
            </a:r>
            <a:r>
              <a:rPr lang="en-US" altLang="en-US" sz="2000" dirty="0">
                <a:latin typeface="Arial" panose="020B0604020202020204" pitchFamily="34" charset="0"/>
                <a:cs typeface="Arial" panose="020B0604020202020204" pitchFamily="34" charset="0"/>
              </a:rPr>
              <a:t>:</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Create structured reports of detected threats.</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Provide visualization of trends and keyword frequency.</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Monitor crawler, scraper, and analysis performance.</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Track system errors and operational metrics.</a:t>
            </a:r>
          </a:p>
          <a:p>
            <a:pPr marL="342900" indent="-342900">
              <a:buFont typeface="Wingdings" panose="05000000000000000000" charset="0"/>
              <a:buChar char="Ø"/>
            </a:pPr>
            <a:endParaRPr lang="en-US" altLang="en-US" sz="2000" b="1" dirty="0">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dirty="0">
                <a:latin typeface="Arial" panose="020B0604020202020204" pitchFamily="34" charset="0"/>
                <a:cs typeface="Arial" panose="020B0604020202020204" pitchFamily="34" charset="0"/>
              </a:rPr>
              <a:t>Core Flows:</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Collect insights from analysis module.</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Generate automated summaries and dashboards.</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Allow export of reports for research purposes.</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Continuously monitor system health and logs.</a:t>
            </a:r>
          </a:p>
          <a:p>
            <a:pPr marL="342900" indent="-342900">
              <a:buFont typeface="Wingdings" panose="05000000000000000000" charset="0"/>
              <a:buChar char="Ø"/>
            </a:pPr>
            <a:endParaRPr lang="en-US" altLang="en-US" sz="2000" b="1" dirty="0">
              <a:latin typeface="Arial" panose="020B0604020202020204" pitchFamily="34" charset="0"/>
              <a:cs typeface="Arial" panose="020B0604020202020204" pitchFamily="34" charset="0"/>
            </a:endParaRPr>
          </a:p>
          <a:p>
            <a:pPr indent="0">
              <a:buFont typeface="Wingdings" panose="05000000000000000000" charset="0"/>
              <a:buNone/>
            </a:pPr>
            <a:r>
              <a:rPr lang="en-US" altLang="en-US" sz="2000" b="1" dirty="0">
                <a:latin typeface="Arial" panose="020B0604020202020204" pitchFamily="34" charset="0"/>
                <a:cs typeface="Arial" panose="020B0604020202020204" pitchFamily="34" charset="0"/>
              </a:rPr>
              <a:t>Security &amp; Compliance:</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Restrict report access to authorized users.</a:t>
            </a: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 Mask sensitive data in generated reports.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web crawler&#10;&#10;Description automatically generated">
            <a:extLst>
              <a:ext uri="{FF2B5EF4-FFF2-40B4-BE49-F238E27FC236}">
                <a16:creationId xmlns:a16="http://schemas.microsoft.com/office/drawing/2014/main" id="{70415667-F4C6-4FE1-9285-B219BB5AA9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355" y="298938"/>
            <a:ext cx="11343286" cy="6392008"/>
          </a:xfrm>
        </p:spPr>
      </p:pic>
    </p:spTree>
    <p:extLst>
      <p:ext uri="{BB962C8B-B14F-4D97-AF65-F5344CB8AC3E}">
        <p14:creationId xmlns:p14="http://schemas.microsoft.com/office/powerpoint/2010/main" val="213428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61" y="156238"/>
            <a:ext cx="8596668" cy="1320800"/>
          </a:xfrm>
        </p:spPr>
        <p:txBody>
          <a:bodyPr/>
          <a:lstStyle/>
          <a:p>
            <a:r>
              <a:rPr lang="en-US" b="1" dirty="0">
                <a:solidFill>
                  <a:schemeClr val="tx1"/>
                </a:solidFill>
              </a:rPr>
              <a:t>Conclusion</a:t>
            </a:r>
            <a:endParaRPr lang="en-IN" dirty="0">
              <a:solidFill>
                <a:schemeClr val="tx1"/>
              </a:solidFill>
            </a:endParaRPr>
          </a:p>
        </p:txBody>
      </p:sp>
      <p:sp>
        <p:nvSpPr>
          <p:cNvPr id="3" name="Content Placeholder 2"/>
          <p:cNvSpPr>
            <a:spLocks noGrp="1"/>
          </p:cNvSpPr>
          <p:nvPr>
            <p:ph idx="1"/>
          </p:nvPr>
        </p:nvSpPr>
        <p:spPr>
          <a:xfrm>
            <a:off x="666750" y="812800"/>
            <a:ext cx="8596630" cy="3851910"/>
          </a:xfrm>
        </p:spPr>
        <p:txBody>
          <a:bodyPr>
            <a:normAutofit lnSpcReduction="10000"/>
          </a:bodyPr>
          <a:lstStyle/>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Dark web crawler and scraper system enables safe and efficient exploration of hidden web content.</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Tor network integration ensures anonymity and security for researchers.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Modular design allows easy upgrades and maintenance.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Data analysis and filtering provide structured and meaningful insights.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Secure storage ensures data integrity and protection.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Ethical and legal controls minimize risks of misuse</a:t>
            </a:r>
            <a:r>
              <a:rPr lang="en-US" altLang="en-US" sz="2000" dirty="0">
                <a:solidFill>
                  <a:schemeClr val="tx1">
                    <a:lumMod val="95000"/>
                    <a:lumOff val="5000"/>
                  </a:schemeClr>
                </a:solidFill>
                <a:sym typeface="+mn-ea"/>
              </a:rPr>
              <a:t>. </a:t>
            </a:r>
            <a:endParaRPr lang="en-US" altLang="en-US" sz="2000"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US" altLang="en-US"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IN" dirty="0"/>
          </a:p>
        </p:txBody>
      </p:sp>
      <p:sp>
        <p:nvSpPr>
          <p:cNvPr id="4" name="Cloud Callout 3"/>
          <p:cNvSpPr/>
          <p:nvPr/>
        </p:nvSpPr>
        <p:spPr>
          <a:xfrm>
            <a:off x="2986392" y="5048656"/>
            <a:ext cx="4659549" cy="1274323"/>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THANK YOU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SLIDEZORDER" val="1"/>
  <p:tag name="KSO_WM_SHAPE_PLACEHOLDEROBJECT" val="1"/>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TotalTime>
  <Words>1128</Words>
  <Application>Microsoft Office PowerPoint</Application>
  <PresentationFormat>Widescreen</PresentationFormat>
  <Paragraphs>175</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    DARK WEB CRAWLER AND SCRAPER WITH  LLM-BASED SECURITY ANALYSIS</vt:lpstr>
      <vt:lpstr>Problem Statement</vt:lpstr>
      <vt:lpstr>Objective</vt:lpstr>
      <vt:lpstr>Existing System</vt:lpstr>
      <vt:lpstr> Proposed System :</vt:lpstr>
      <vt:lpstr>SYSTEM ARCHITECTURE/FLOW DIAGRAM</vt:lpstr>
      <vt:lpstr> </vt:lpstr>
      <vt:lpstr>Module 1 – Crawler Module </vt:lpstr>
      <vt:lpstr>PowerPoint Presentation</vt:lpstr>
      <vt:lpstr>PowerPoint Presentation</vt:lpstr>
      <vt:lpstr>PowerPoint Presentation</vt:lpstr>
      <vt:lpstr>Module 3 – Data Analysis Module</vt:lpstr>
      <vt:lpstr>PowerPoint Presentation</vt:lpstr>
      <vt:lpstr>Module 4 – Storage &amp; Security Module</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 MATCH AI CLOUD BASED   STARTUP AND INVESTOR   MATCHING PLATFORM</dc:title>
  <dc:creator>vishalrameshv13@gmail.com</dc:creator>
  <cp:lastModifiedBy>Sriram Amsavalli</cp:lastModifiedBy>
  <cp:revision>17</cp:revision>
  <dcterms:created xsi:type="dcterms:W3CDTF">2024-12-13T12:01:00Z</dcterms:created>
  <dcterms:modified xsi:type="dcterms:W3CDTF">2026-04-05T02:55:42Z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6B4C21B944AB4DAAB197F128E0C4EE44_13</vt:lpwstr>
  </property>
  <property fmtid="{D5CDD505-2E9C-101B-9397-08002B2CF9AE}" pid="3" name="KSOProductBuildVer">
    <vt:lpwstr>1033-12.2.0.23196</vt:lpwstr>
  </property>
</Properties>
</file>