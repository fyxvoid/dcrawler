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87" r:id="rId4"/>
    <p:sldId id="288" r:id="rId5"/>
    <p:sldId id="260" r:id="rId6"/>
    <p:sldId id="262" r:id="rId7"/>
    <p:sldId id="289" r:id="rId8"/>
    <p:sldId id="278" r:id="rId9"/>
    <p:sldId id="267" r:id="rId10"/>
    <p:sldId id="300" r:id="rId11"/>
    <p:sldId id="284" r:id="rId12"/>
    <p:sldId id="302" r:id="rId13"/>
    <p:sldId id="292" r:id="rId14"/>
    <p:sldId id="303" r:id="rId15"/>
    <p:sldId id="297" r:id="rId16"/>
    <p:sldId id="304" r:id="rId18"/>
    <p:sldId id="298"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7" d="100"/>
          <a:sy n="87" d="100"/>
        </p:scale>
        <p:origin x="49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DB5D49-D36C-493B-894D-932D7F127419}"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CABEA3-6D73-4EBD-8EF0-C59349BF264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9CABEA3-6D73-4EBD-8EF0-C59349BF264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55210B4-056D-4E03-BC43-18DEB964B03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55210B4-056D-4E03-BC43-18DEB964B03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5210B4-056D-4E03-BC43-18DEB964B03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10B4-056D-4E03-BC43-18DEB964B03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5210B4-056D-4E03-BC43-18DEB964B03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5210B4-056D-4E03-BC43-18DEB964B03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55210B4-056D-4E03-BC43-18DEB964B03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D97425F-F61E-4FC1-8556-5501FC3A8870}"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55210B4-056D-4E03-BC43-18DEB964B032}" type="datetimeFigureOut">
              <a:rPr lang="en-IN" smtClean="0"/>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97425F-F61E-4FC1-8556-5501FC3A8870}"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42745" y="301625"/>
            <a:ext cx="8006715" cy="1867535"/>
          </a:xfrm>
        </p:spPr>
        <p:txBody>
          <a:bodyPr>
            <a:normAutofit/>
          </a:bodyPr>
          <a:lstStyle/>
          <a:p>
            <a:pPr algn="ctr"/>
            <a:r>
              <a:rPr lang="en-US" sz="3200" b="1" dirty="0">
                <a:solidFill>
                  <a:schemeClr val="tx1"/>
                </a:solidFill>
              </a:rPr>
              <a:t>   </a:t>
            </a:r>
            <a:r>
              <a:rPr lang="en-US" sz="3200" b="1" dirty="0">
                <a:solidFill>
                  <a:schemeClr val="tx1">
                    <a:lumMod val="85000"/>
                    <a:lumOff val="15000"/>
                  </a:schemeClr>
                </a:solidFill>
              </a:rPr>
              <a:t> </a:t>
            </a:r>
            <a:r>
              <a:rPr lang="en-US" sz="3200" dirty="0">
                <a:solidFill>
                  <a:schemeClr val="tx1"/>
                </a:solidFill>
                <a:effectLst>
                  <a:outerShdw blurRad="38100" dist="19050" dir="2700000" algn="tl" rotWithShape="0">
                    <a:schemeClr val="dk1">
                      <a:alpha val="40000"/>
                    </a:schemeClr>
                  </a:outerShdw>
                </a:effectLst>
                <a:sym typeface="+mn-ea"/>
              </a:rPr>
              <a:t>DARK WEB CRAWLER AND SC</a:t>
            </a:r>
            <a:r>
              <a:rPr lang="en-IN" altLang="en-US" sz="3200" dirty="0">
                <a:solidFill>
                  <a:schemeClr val="tx1"/>
                </a:solidFill>
                <a:effectLst>
                  <a:outerShdw blurRad="38100" dist="19050" dir="2700000" algn="tl" rotWithShape="0">
                    <a:schemeClr val="dk1">
                      <a:alpha val="40000"/>
                    </a:schemeClr>
                  </a:outerShdw>
                </a:effectLst>
                <a:sym typeface="+mn-ea"/>
              </a:rPr>
              <a:t>R</a:t>
            </a:r>
            <a:r>
              <a:rPr lang="en-US" sz="3200" dirty="0">
                <a:solidFill>
                  <a:schemeClr val="tx1"/>
                </a:solidFill>
                <a:effectLst>
                  <a:outerShdw blurRad="38100" dist="19050" dir="2700000" algn="tl" rotWithShape="0">
                    <a:schemeClr val="dk1">
                      <a:alpha val="40000"/>
                    </a:schemeClr>
                  </a:outerShdw>
                </a:effectLst>
                <a:sym typeface="+mn-ea"/>
              </a:rPr>
              <a:t>APER WITH</a:t>
            </a:r>
            <a:br>
              <a:rPr lang="en-US" sz="3200" dirty="0">
                <a:solidFill>
                  <a:schemeClr val="tx1"/>
                </a:solidFill>
                <a:effectLst>
                  <a:outerShdw blurRad="38100" dist="19050" dir="2700000" algn="tl" rotWithShape="0">
                    <a:schemeClr val="dk1">
                      <a:alpha val="40000"/>
                    </a:schemeClr>
                  </a:outerShdw>
                </a:effectLst>
                <a:sym typeface="+mn-ea"/>
              </a:rPr>
            </a:br>
            <a:r>
              <a:rPr lang="en-US" sz="3200" dirty="0">
                <a:solidFill>
                  <a:schemeClr val="tx1"/>
                </a:solidFill>
                <a:effectLst>
                  <a:outerShdw blurRad="38100" dist="19050" dir="2700000" algn="tl" rotWithShape="0">
                    <a:schemeClr val="dk1">
                      <a:alpha val="40000"/>
                    </a:schemeClr>
                  </a:outerShdw>
                </a:effectLst>
                <a:sym typeface="+mn-ea"/>
              </a:rPr>
              <a:t> LLM-BASED SECURITY ANALYSIS</a:t>
            </a:r>
            <a:endParaRPr lang="en-IN" sz="3200" b="1" dirty="0">
              <a:solidFill>
                <a:schemeClr val="tx1">
                  <a:lumMod val="85000"/>
                  <a:lumOff val="15000"/>
                </a:schemeClr>
              </a:solidFill>
            </a:endParaRPr>
          </a:p>
        </p:txBody>
      </p:sp>
      <p:sp>
        <p:nvSpPr>
          <p:cNvPr id="3" name="Subtitle 2"/>
          <p:cNvSpPr>
            <a:spLocks noGrp="1"/>
          </p:cNvSpPr>
          <p:nvPr>
            <p:ph type="subTitle" idx="1"/>
          </p:nvPr>
        </p:nvSpPr>
        <p:spPr>
          <a:xfrm>
            <a:off x="2081719" y="2558375"/>
            <a:ext cx="8501974" cy="2830748"/>
          </a:xfrm>
        </p:spPr>
        <p:txBody>
          <a:bodyPr>
            <a:normAutofit fontScale="47500" lnSpcReduction="10000"/>
          </a:bodyPr>
          <a:lstStyle/>
          <a:p>
            <a:pPr algn="l"/>
            <a:r>
              <a:rPr lang="en-US" sz="4000" b="1" dirty="0">
                <a:solidFill>
                  <a:schemeClr val="tx1"/>
                </a:solidFill>
                <a:latin typeface="Arial" panose="020B0604020202020204" pitchFamily="34" charset="0"/>
                <a:cs typeface="Arial" panose="020B0604020202020204" pitchFamily="34" charset="0"/>
              </a:rPr>
              <a:t>TEAM MEMBERS</a:t>
            </a:r>
            <a:r>
              <a:rPr lang="en-US" sz="4000" dirty="0">
                <a:solidFill>
                  <a:schemeClr val="tx1"/>
                </a:solidFill>
                <a:latin typeface="Arial" panose="020B0604020202020204" pitchFamily="34" charset="0"/>
                <a:cs typeface="Arial" panose="020B0604020202020204" pitchFamily="34" charset="0"/>
              </a:rPr>
              <a:t>:</a:t>
            </a:r>
            <a:r>
              <a:rPr lang="en-IN" altLang="en-US" sz="4000" dirty="0">
                <a:solidFill>
                  <a:schemeClr val="tx1"/>
                </a:solidFill>
                <a:latin typeface="Arial" panose="020B0604020202020204" pitchFamily="34" charset="0"/>
                <a:cs typeface="Arial" panose="020B0604020202020204" pitchFamily="34" charset="0"/>
              </a:rPr>
              <a:t> 1. ROJA S (620822205089)</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2. SWETHA S </a:t>
            </a:r>
            <a:r>
              <a:rPr lang="en-IN" altLang="en-US" sz="4000" dirty="0">
                <a:solidFill>
                  <a:schemeClr val="tx1"/>
                </a:solidFill>
                <a:latin typeface="Arial" panose="020B0604020202020204" pitchFamily="34" charset="0"/>
                <a:cs typeface="Arial" panose="020B0604020202020204" pitchFamily="34" charset="0"/>
                <a:sym typeface="+mn-ea"/>
              </a:rPr>
              <a:t>(620822205112)</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3. SARANYA M </a:t>
            </a:r>
            <a:r>
              <a:rPr lang="en-IN" altLang="en-US" sz="4000" dirty="0">
                <a:solidFill>
                  <a:schemeClr val="tx1"/>
                </a:solidFill>
                <a:latin typeface="Arial" panose="020B0604020202020204" pitchFamily="34" charset="0"/>
                <a:cs typeface="Arial" panose="020B0604020202020204" pitchFamily="34" charset="0"/>
                <a:sym typeface="+mn-ea"/>
              </a:rPr>
              <a:t>(620822205095)</a:t>
            </a:r>
            <a:endParaRPr lang="en-IN" alt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rPr>
              <a:t>                          </a:t>
            </a:r>
            <a:r>
              <a:rPr lang="en-US" altLang="en-IN"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4. SHARMILA K </a:t>
            </a:r>
            <a:r>
              <a:rPr lang="en-IN" altLang="en-US" sz="4000" dirty="0">
                <a:solidFill>
                  <a:schemeClr val="tx1"/>
                </a:solidFill>
                <a:latin typeface="Arial" panose="020B0604020202020204" pitchFamily="34" charset="0"/>
                <a:cs typeface="Arial" panose="020B0604020202020204" pitchFamily="34" charset="0"/>
                <a:sym typeface="+mn-ea"/>
              </a:rPr>
              <a:t>(620822205099)</a:t>
            </a:r>
            <a:endParaRPr lang="en-US" sz="4000" dirty="0">
              <a:solidFill>
                <a:schemeClr val="tx1"/>
              </a:solidFill>
              <a:latin typeface="Arial" panose="020B0604020202020204" pitchFamily="34" charset="0"/>
              <a:cs typeface="Arial" panose="020B0604020202020204" pitchFamily="34" charset="0"/>
            </a:endParaRPr>
          </a:p>
          <a:p>
            <a:pPr algn="l"/>
            <a:r>
              <a:rPr lang="en-US" sz="4000" dirty="0">
                <a:solidFill>
                  <a:schemeClr val="tx1"/>
                </a:solidFill>
                <a:latin typeface="Arial" panose="020B0604020202020204" pitchFamily="34" charset="0"/>
                <a:cs typeface="Arial" panose="020B0604020202020204" pitchFamily="34" charset="0"/>
              </a:rPr>
              <a:t> </a:t>
            </a:r>
            <a:endParaRPr lang="en-US" sz="4000" dirty="0">
              <a:solidFill>
                <a:schemeClr val="tx1"/>
              </a:solidFill>
              <a:latin typeface="Arial" panose="020B0604020202020204" pitchFamily="34" charset="0"/>
              <a:cs typeface="Arial" panose="020B0604020202020204" pitchFamily="34" charset="0"/>
            </a:endParaRPr>
          </a:p>
          <a:p>
            <a:pPr algn="l"/>
            <a:r>
              <a:rPr lang="en-US" sz="4000" b="1" dirty="0">
                <a:solidFill>
                  <a:schemeClr val="tx1"/>
                </a:solidFill>
                <a:latin typeface="Arial" panose="020B0604020202020204" pitchFamily="34" charset="0"/>
                <a:cs typeface="Arial" panose="020B0604020202020204" pitchFamily="34" charset="0"/>
              </a:rPr>
              <a:t>GUIDE</a:t>
            </a:r>
            <a:r>
              <a:rPr lang="en-US" sz="4000" dirty="0">
                <a:solidFill>
                  <a:schemeClr val="tx1"/>
                </a:solidFill>
                <a:latin typeface="Arial" panose="020B0604020202020204" pitchFamily="34" charset="0"/>
                <a:cs typeface="Arial" panose="020B0604020202020204" pitchFamily="34" charset="0"/>
              </a:rPr>
              <a:t> :</a:t>
            </a:r>
            <a:r>
              <a:rPr lang="en-IN" altLang="en-US" sz="4000" dirty="0">
                <a:solidFill>
                  <a:schemeClr val="tx1"/>
                </a:solidFill>
                <a:latin typeface="Arial" panose="020B0604020202020204" pitchFamily="34" charset="0"/>
                <a:cs typeface="Arial" panose="020B0604020202020204" pitchFamily="34" charset="0"/>
              </a:rPr>
              <a:t> </a:t>
            </a:r>
            <a:r>
              <a:rPr lang="en-US" sz="4000" dirty="0">
                <a:solidFill>
                  <a:schemeClr val="tx1"/>
                </a:solidFill>
                <a:latin typeface="Arial" panose="020B0604020202020204" pitchFamily="34" charset="0"/>
                <a:cs typeface="Arial" panose="020B0604020202020204" pitchFamily="34" charset="0"/>
                <a:sym typeface="+mn-ea"/>
              </a:rPr>
              <a:t>Mrs.S.S</a:t>
            </a:r>
            <a:r>
              <a:rPr lang="en-IN" altLang="en-US" sz="4000" dirty="0">
                <a:solidFill>
                  <a:schemeClr val="tx1"/>
                </a:solidFill>
                <a:latin typeface="Arial" panose="020B0604020202020204" pitchFamily="34" charset="0"/>
                <a:cs typeface="Arial" panose="020B0604020202020204" pitchFamily="34" charset="0"/>
                <a:sym typeface="+mn-ea"/>
              </a:rPr>
              <a:t>ARANYA</a:t>
            </a:r>
            <a:r>
              <a:rPr lang="en-US" sz="4000" dirty="0">
                <a:solidFill>
                  <a:schemeClr val="tx1"/>
                </a:solidFill>
                <a:latin typeface="Arial" panose="020B0604020202020204" pitchFamily="34" charset="0"/>
                <a:cs typeface="Arial" panose="020B0604020202020204" pitchFamily="34" charset="0"/>
                <a:sym typeface="+mn-ea"/>
              </a:rPr>
              <a:t>,</a:t>
            </a:r>
            <a:r>
              <a:rPr lang="en-IN" altLang="en-US" sz="4000" dirty="0">
                <a:solidFill>
                  <a:schemeClr val="tx1"/>
                </a:solidFill>
                <a:latin typeface="Arial" panose="020B0604020202020204" pitchFamily="34" charset="0"/>
                <a:cs typeface="Arial" panose="020B0604020202020204" pitchFamily="34" charset="0"/>
                <a:sym typeface="+mn-ea"/>
              </a:rPr>
              <a:t>AP</a:t>
            </a:r>
            <a:r>
              <a:rPr lang="en-US" sz="4000" dirty="0">
                <a:solidFill>
                  <a:schemeClr val="tx1"/>
                </a:solidFill>
                <a:latin typeface="Arial" panose="020B0604020202020204" pitchFamily="34" charset="0"/>
                <a:cs typeface="Arial" panose="020B0604020202020204" pitchFamily="34" charset="0"/>
                <a:sym typeface="+mn-ea"/>
              </a:rPr>
              <a:t>/IT</a:t>
            </a:r>
            <a:endParaRPr lang="en-US" sz="4000" dirty="0">
              <a:solidFill>
                <a:schemeClr val="tx1"/>
              </a:solidFill>
              <a:latin typeface="Arial" panose="020B0604020202020204" pitchFamily="34" charset="0"/>
              <a:cs typeface="Arial" panose="020B0604020202020204" pitchFamily="34" charset="0"/>
            </a:endParaRPr>
          </a:p>
          <a:p>
            <a:pPr algn="l"/>
            <a:r>
              <a:rPr lang="en-IN" altLang="en-US" sz="4000" dirty="0">
                <a:solidFill>
                  <a:schemeClr val="tx1"/>
                </a:solidFill>
                <a:latin typeface="Arial" panose="020B0604020202020204" pitchFamily="34" charset="0"/>
                <a:cs typeface="Arial" panose="020B0604020202020204" pitchFamily="34" charset="0"/>
                <a:sym typeface="+mn-ea"/>
              </a:rPr>
              <a:t>GNANAMANI COLLEGE OF TECHNOLOGY.</a:t>
            </a:r>
            <a:r>
              <a:rPr lang="en-US" sz="4000" dirty="0">
                <a:solidFill>
                  <a:schemeClr val="tx1"/>
                </a:solidFill>
                <a:latin typeface="Arial" panose="020B0604020202020204" pitchFamily="34" charset="0"/>
                <a:cs typeface="Arial" panose="020B0604020202020204" pitchFamily="34" charset="0"/>
                <a:sym typeface="+mn-ea"/>
              </a:rPr>
              <a:t> </a:t>
            </a:r>
            <a:endParaRPr lang="en-US" sz="4000" dirty="0">
              <a:solidFill>
                <a:schemeClr val="tx1"/>
              </a:solidFill>
              <a:latin typeface="Arial" panose="020B0604020202020204" pitchFamily="34" charset="0"/>
              <a:cs typeface="Arial" panose="020B0604020202020204" pitchFamily="34" charset="0"/>
            </a:endParaRPr>
          </a:p>
          <a:p>
            <a:pPr algn="l"/>
            <a:r>
              <a:rPr lang="en-US" sz="2000" dirty="0">
                <a:solidFill>
                  <a:schemeClr val="tx1"/>
                </a:solidFill>
              </a:rPr>
              <a:t> </a:t>
            </a:r>
            <a:r>
              <a:rPr lang="en-US" dirty="0">
                <a:solidFill>
                  <a:schemeClr val="tx1"/>
                </a:solidFill>
              </a:rPr>
              <a:t>   </a:t>
            </a:r>
            <a:endParaRPr lang="en-US" dirty="0">
              <a:solidFill>
                <a:schemeClr val="tx1"/>
              </a:solidFill>
            </a:endParaRP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IN" b="1" dirty="0">
                <a:solidFill>
                  <a:schemeClr val="tx1"/>
                </a:solidFill>
              </a:rPr>
              <a:t>Problem Statement</a:t>
            </a:r>
            <a:endParaRPr lang="en-IN" b="1" dirty="0">
              <a:solidFill>
                <a:schemeClr val="tx1"/>
              </a:solidFill>
            </a:endParaRPr>
          </a:p>
        </p:txBody>
      </p:sp>
      <p:sp>
        <p:nvSpPr>
          <p:cNvPr id="3" name="Content Placeholder 2"/>
          <p:cNvSpPr>
            <a:spLocks noGrp="1"/>
          </p:cNvSpPr>
          <p:nvPr>
            <p:ph idx="1"/>
          </p:nvPr>
        </p:nvSpPr>
        <p:spPr>
          <a:xfrm>
            <a:off x="677545" y="1545590"/>
            <a:ext cx="9020810" cy="4495800"/>
          </a:xfrm>
        </p:spPr>
        <p:txBody>
          <a:bodyPr>
            <a:normAutofit/>
          </a:bodyPr>
          <a:lstStyle/>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Exploring the dark web manually is time-consuming and risky.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Hidden links and anonymous sites make navigation difficult.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Traditional web crawlers cannot access Tor-based dark web sites.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Extracting relevant information manually is inefficient and prone to errors.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Security and privacy concerns make dark web data collection challenging</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nSpc>
                <a:spcPct val="80000"/>
              </a:lnSpc>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There is a lack of systematic analysis of existing crawler and scraper architectures</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buNone/>
            </a:pPr>
            <a:endParaRPr lang="en-IN"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tx1"/>
                </a:solidFill>
              </a:rPr>
              <a:t>Objective</a:t>
            </a:r>
            <a:endParaRPr lang="en-IN" b="1" dirty="0">
              <a:solidFill>
                <a:schemeClr val="tx1"/>
              </a:solidFill>
            </a:endParaRPr>
          </a:p>
        </p:txBody>
      </p:sp>
      <p:sp>
        <p:nvSpPr>
          <p:cNvPr id="4" name="Content Placeholder 3"/>
          <p:cNvSpPr>
            <a:spLocks noGrp="1"/>
          </p:cNvSpPr>
          <p:nvPr>
            <p:ph idx="1"/>
          </p:nvPr>
        </p:nvSpPr>
        <p:spPr>
          <a:xfrm>
            <a:off x="677545" y="1420495"/>
            <a:ext cx="8596630" cy="4620895"/>
          </a:xfrm>
        </p:spPr>
        <p:txBody>
          <a:bodyPr>
            <a:noAutofit/>
          </a:bodyPr>
          <a:lstStyle/>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design a dark web crawler capable of navigating Tor network safely. </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implement a scraper module that efficiently extracts relevant data. </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analyze and filter the collected data for meaningful insights.</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evaluate existing crawler and scraper architectures for performance</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address challenges like anonymity, security, and ethical issues</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r>
              <a:rPr lang="en-US" altLang="en-US" sz="1900">
                <a:solidFill>
                  <a:schemeClr val="tx1">
                    <a:lumMod val="95000"/>
                    <a:lumOff val="5000"/>
                  </a:schemeClr>
                </a:solidFill>
                <a:latin typeface="Arial" panose="020B0604020202020204" pitchFamily="34" charset="0"/>
                <a:cs typeface="Arial" panose="020B0604020202020204" pitchFamily="34" charset="0"/>
                <a:sym typeface="+mn-ea"/>
              </a:rPr>
              <a:t>To provide a systematic overview for future dark web research</a:t>
            </a:r>
            <a:endParaRPr lang="en-US" altLang="en-US" sz="1900">
              <a:solidFill>
                <a:schemeClr val="tx1">
                  <a:lumMod val="95000"/>
                  <a:lumOff val="5000"/>
                </a:schemeClr>
              </a:solidFill>
              <a:latin typeface="Arial" panose="020B0604020202020204" pitchFamily="34" charset="0"/>
              <a:cs typeface="Arial" panose="020B0604020202020204" pitchFamily="34" charset="0"/>
            </a:endParaRPr>
          </a:p>
          <a:p>
            <a:endParaRPr lang="en-US" altLang="en-US">
              <a:solidFill>
                <a:schemeClr val="tx1">
                  <a:lumMod val="95000"/>
                  <a:lumOff val="5000"/>
                </a:schemeClr>
              </a:solidFill>
              <a:latin typeface="Arial" panose="020B0604020202020204" pitchFamily="34" charset="0"/>
              <a:cs typeface="Arial" panose="020B0604020202020204" pitchFamily="34" charset="0"/>
            </a:endParaRPr>
          </a:p>
        </p:txBody>
      </p:sp>
      <p:sp>
        <p:nvSpPr>
          <p:cNvPr id="8" name="Text Box 7"/>
          <p:cNvSpPr txBox="1"/>
          <p:nvPr/>
        </p:nvSpPr>
        <p:spPr>
          <a:xfrm>
            <a:off x="10155555" y="4956810"/>
            <a:ext cx="4064000" cy="368300"/>
          </a:xfrm>
          <a:prstGeom prst="rect">
            <a:avLst/>
          </a:prstGeom>
          <a:noFill/>
        </p:spPr>
        <p:txBody>
          <a:bodyPr wrap="squar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468" y="0"/>
            <a:ext cx="8256200" cy="1320800"/>
          </a:xfrm>
        </p:spPr>
        <p:txBody>
          <a:bodyPr/>
          <a:lstStyle/>
          <a:p>
            <a:r>
              <a:rPr lang="en-US" b="1" dirty="0">
                <a:solidFill>
                  <a:schemeClr val="tx1"/>
                </a:solidFill>
              </a:rPr>
              <a:t>Existing System</a:t>
            </a:r>
            <a:endParaRPr lang="en-IN" dirty="0">
              <a:solidFill>
                <a:schemeClr val="tx1"/>
              </a:solidFill>
            </a:endParaRPr>
          </a:p>
        </p:txBody>
      </p:sp>
      <p:sp>
        <p:nvSpPr>
          <p:cNvPr id="3" name="Content Placeholder 2"/>
          <p:cNvSpPr>
            <a:spLocks noGrp="1"/>
          </p:cNvSpPr>
          <p:nvPr>
            <p:ph idx="1"/>
          </p:nvPr>
        </p:nvSpPr>
        <p:spPr>
          <a:xfrm>
            <a:off x="749935" y="682625"/>
            <a:ext cx="8961120" cy="2745740"/>
          </a:xfrm>
        </p:spPr>
        <p:txBody>
          <a:bodyPr>
            <a:noAutofit/>
          </a:bodyPr>
          <a:lstStyle/>
          <a:p>
            <a:pPr marL="0" indent="0" algn="just">
              <a:lnSpc>
                <a:spcPct val="150000"/>
              </a:lnSpc>
              <a:buClr>
                <a:schemeClr val="tx1"/>
              </a:buClr>
              <a:buNone/>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Current web crawlers are mainly designed to explore the surface web and cannot access dark web content that runs on the Tor network. Manual exploration of the dark web is risky, time-consuming, and unsafe. Most existing scrapers are not built to handle anonymous or hidden websites, making data extraction difficult. Collecting information from the dark web also requires stronger security measures, which many systems lack.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lgn="just">
              <a:lnSpc>
                <a:spcPct val="150000"/>
              </a:lnSpc>
              <a:buClr>
                <a:schemeClr val="tx1"/>
              </a:buCl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4" name="Rectangle 3"/>
          <p:cNvSpPr/>
          <p:nvPr/>
        </p:nvSpPr>
        <p:spPr>
          <a:xfrm>
            <a:off x="379379" y="3570052"/>
            <a:ext cx="3501958" cy="646331"/>
          </a:xfrm>
          <a:prstGeom prst="rect">
            <a:avLst/>
          </a:prstGeom>
        </p:spPr>
        <p:txBody>
          <a:bodyPr wrap="square">
            <a:spAutoFit/>
          </a:bodyPr>
          <a:lstStyle/>
          <a:p>
            <a:r>
              <a:rPr lang="en-US" sz="3600" b="1" dirty="0"/>
              <a:t>Disadvantage</a:t>
            </a:r>
            <a:endParaRPr lang="en-US" sz="3600" dirty="0"/>
          </a:p>
        </p:txBody>
      </p:sp>
      <p:sp>
        <p:nvSpPr>
          <p:cNvPr id="5" name="Text Box 4"/>
          <p:cNvSpPr txBox="1"/>
          <p:nvPr/>
        </p:nvSpPr>
        <p:spPr>
          <a:xfrm>
            <a:off x="750570" y="4216400"/>
            <a:ext cx="9419590" cy="2317115"/>
          </a:xfrm>
          <a:prstGeom prst="rect">
            <a:avLst/>
          </a:prstGeom>
          <a:noFill/>
        </p:spPr>
        <p:txBody>
          <a:bodyPr wrap="square" rtlCol="0">
            <a:noAutofit/>
          </a:bodyPr>
          <a:lstStyle/>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Manual dark web exploration is slow, risky, and inefficient. ️</a:t>
            </a:r>
            <a:endParaRPr lang="en-US"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Normal crawlers cannot access Tor-based hidden websites. </a:t>
            </a:r>
            <a:endParaRPr lang="en-US"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Existing scrapers struggle with encrypted or dynamic content. </a:t>
            </a:r>
            <a:endParaRPr lang="zh-CN" altLang="en-US" sz="2000">
              <a:latin typeface="Arial" panose="020B0604020202020204" pitchFamily="34" charset="0"/>
              <a:cs typeface="Arial" panose="020B0604020202020204" pitchFamily="34" charset="0"/>
            </a:endParaRPr>
          </a:p>
          <a:p>
            <a:pPr marL="342900" indent="-342900">
              <a:lnSpc>
                <a:spcPct val="170000"/>
              </a:lnSpc>
              <a:buFont typeface="Arial" panose="020B0604020202020204" pitchFamily="34" charset="0"/>
              <a:buChar char="•"/>
            </a:pPr>
            <a:r>
              <a:rPr lang="en-US" altLang="en-US" sz="2000">
                <a:latin typeface="Arial" panose="020B0604020202020204" pitchFamily="34" charset="0"/>
                <a:cs typeface="Arial" panose="020B0604020202020204" pitchFamily="34" charset="0"/>
                <a:sym typeface="+mn-ea"/>
              </a:rPr>
              <a:t>Ethical, legal, and large data handling issues reduce effectiveness. </a:t>
            </a:r>
            <a:endParaRPr lang="zh-CN" altLang="en-US" sz="2000">
              <a:latin typeface="Arial" panose="020B0604020202020204" pitchFamily="34" charset="0"/>
              <a:cs typeface="Arial" panose="020B0604020202020204" pitchFamily="34" charset="0"/>
            </a:endParaRPr>
          </a:p>
          <a:p>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9" y="156238"/>
            <a:ext cx="8596668" cy="1320800"/>
          </a:xfrm>
        </p:spPr>
        <p:txBody>
          <a:bodyPr/>
          <a:lstStyle/>
          <a:p>
            <a:r>
              <a:rPr lang="en-US" b="1" dirty="0">
                <a:solidFill>
                  <a:schemeClr val="tx1"/>
                </a:solidFill>
              </a:rPr>
              <a:t> Proposed System :</a:t>
            </a:r>
            <a:endParaRPr lang="en-IN" dirty="0">
              <a:solidFill>
                <a:schemeClr val="tx1"/>
              </a:solidFill>
            </a:endParaRPr>
          </a:p>
        </p:txBody>
      </p:sp>
      <p:sp>
        <p:nvSpPr>
          <p:cNvPr id="3" name="Content Placeholder 2"/>
          <p:cNvSpPr>
            <a:spLocks noGrp="1"/>
          </p:cNvSpPr>
          <p:nvPr>
            <p:ph idx="1"/>
          </p:nvPr>
        </p:nvSpPr>
        <p:spPr>
          <a:xfrm>
            <a:off x="791845" y="798195"/>
            <a:ext cx="10165080" cy="2919095"/>
          </a:xfrm>
        </p:spPr>
        <p:txBody>
          <a:bodyPr>
            <a:noAutofit/>
          </a:bodyPr>
          <a:lstStyle/>
          <a:p>
            <a:pPr marL="0" indent="0" algn="just">
              <a:lnSpc>
                <a:spcPct val="150000"/>
              </a:lnSpc>
              <a:buClr>
                <a:schemeClr val="tx1"/>
              </a:buClr>
              <a:buNone/>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The proposed system develops a secure dark web crawler that can safely navigate the Tor network. It includes an automated scraper module to efficiently extract relevant information from dark web pages. A data analysis layer is added to filter, organize, and process the collected data, while encrypted storage ensures that all information is stored securely. The system also incorporates ethical and legal controls to promote responsible crawling.</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marL="0" indent="0" algn="just">
              <a:lnSpc>
                <a:spcPct val="150000"/>
              </a:lnSpc>
              <a:buClr>
                <a:schemeClr val="tx1"/>
              </a:buClr>
              <a:buNone/>
            </a:pP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5" name="Rectangle 4"/>
          <p:cNvSpPr/>
          <p:nvPr/>
        </p:nvSpPr>
        <p:spPr>
          <a:xfrm>
            <a:off x="184826" y="3560323"/>
            <a:ext cx="3122578" cy="645160"/>
          </a:xfrm>
          <a:prstGeom prst="rect">
            <a:avLst/>
          </a:prstGeom>
        </p:spPr>
        <p:txBody>
          <a:bodyPr wrap="square">
            <a:spAutoFit/>
          </a:bodyPr>
          <a:lstStyle/>
          <a:p>
            <a:r>
              <a:rPr lang="en-US" sz="3600" b="1" dirty="0"/>
              <a:t>Advantage </a:t>
            </a:r>
            <a:r>
              <a:rPr lang="en-IN" altLang="en-US" sz="3600" b="1" dirty="0"/>
              <a:t>:</a:t>
            </a:r>
            <a:endParaRPr lang="en-IN" altLang="en-US" sz="3600" b="1" dirty="0"/>
          </a:p>
        </p:txBody>
      </p:sp>
      <p:sp>
        <p:nvSpPr>
          <p:cNvPr id="4" name="Text Box 3"/>
          <p:cNvSpPr txBox="1"/>
          <p:nvPr/>
        </p:nvSpPr>
        <p:spPr>
          <a:xfrm>
            <a:off x="791210" y="4334510"/>
            <a:ext cx="8952865" cy="1989455"/>
          </a:xfrm>
          <a:prstGeom prst="rect">
            <a:avLst/>
          </a:prstGeom>
          <a:noFill/>
        </p:spPr>
        <p:txBody>
          <a:bodyPr wrap="square" rtlCol="0">
            <a:noAutofit/>
          </a:bodyPr>
          <a:lstStyle/>
          <a:p>
            <a:pPr marL="1257300" lvl="2" indent="-342900">
              <a:buFont typeface="Arial" panose="020B0604020202020204" pitchFamily="34" charset="0"/>
              <a:buChar char="•"/>
            </a:pPr>
            <a:r>
              <a:rPr lang="en-US" altLang="en-US" sz="2000" dirty="0">
                <a:latin typeface="Arial" panose="020B0604020202020204" pitchFamily="34" charset="0"/>
                <a:cs typeface="Arial" panose="020B0604020202020204" pitchFamily="34" charset="0"/>
                <a:sym typeface="+mn-ea"/>
              </a:rPr>
              <a:t>Automated crawling saves time and improves speed and accuracy.</a:t>
            </a: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a:latin typeface="Arial" panose="020B0604020202020204" pitchFamily="34" charset="0"/>
                <a:cs typeface="Arial" panose="020B0604020202020204" pitchFamily="34" charset="0"/>
                <a:sym typeface="+mn-ea"/>
              </a:rPr>
              <a:t>Can safely access Tor-based dark web content.</a:t>
            </a: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endParaRPr lang="en-US" altLang="en-US" sz="2000" dirty="0">
              <a:latin typeface="Arial" panose="020B0604020202020204" pitchFamily="34" charset="0"/>
              <a:cs typeface="Arial" panose="020B0604020202020204" pitchFamily="34" charset="0"/>
            </a:endParaRPr>
          </a:p>
          <a:p>
            <a:pPr marL="1257300" lvl="2" indent="-342900">
              <a:buFont typeface="Arial" panose="020B0604020202020204" pitchFamily="34" charset="0"/>
              <a:buChar char="•"/>
            </a:pPr>
            <a:r>
              <a:rPr lang="en-US" altLang="en-US" sz="2000" dirty="0">
                <a:latin typeface="Arial" panose="020B0604020202020204" pitchFamily="34" charset="0"/>
                <a:cs typeface="Arial" panose="020B0604020202020204" pitchFamily="34" charset="0"/>
                <a:sym typeface="+mn-ea"/>
              </a:rPr>
              <a:t>Secure storage and organized data improve reliability.</a:t>
            </a:r>
            <a:endParaRPr lang="en-US" altLang="en-US" sz="2000" dirty="0">
              <a:latin typeface="Arial" panose="020B0604020202020204" pitchFamily="34" charset="0"/>
              <a:cs typeface="Arial" panose="020B0604020202020204" pitchFamily="34" charset="0"/>
            </a:endParaRPr>
          </a:p>
          <a:p>
            <a:pPr lvl="2"/>
            <a:endParaRPr lang="en-US" altLang="en-US" sz="20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79" y="609600"/>
            <a:ext cx="8841923" cy="1320800"/>
          </a:xfrm>
        </p:spPr>
        <p:txBody>
          <a:bodyPr/>
          <a:lstStyle/>
          <a:p>
            <a:r>
              <a:rPr lang="en-IN" b="1" dirty="0">
                <a:solidFill>
                  <a:schemeClr val="tx1"/>
                </a:solidFill>
              </a:rPr>
              <a:t>SYSTEM ARCHITECTURE/FLOW DIAGRAM</a:t>
            </a:r>
            <a:endParaRPr lang="en-IN" b="1" dirty="0">
              <a:solidFill>
                <a:schemeClr val="tx1"/>
              </a:solidFill>
            </a:endParaRPr>
          </a:p>
        </p:txBody>
      </p:sp>
      <p:pic>
        <p:nvPicPr>
          <p:cNvPr id="7" name="Content Placeholder 6" descr="WhatsApp Image 2026-02-06 at 1.28.45 PM"/>
          <p:cNvPicPr>
            <a:picLocks noGrp="1" noChangeAspect="1"/>
          </p:cNvPicPr>
          <p:nvPr>
            <p:ph idx="1"/>
          </p:nvPr>
        </p:nvPicPr>
        <p:blipFill>
          <a:blip r:embed="rId1"/>
          <a:stretch>
            <a:fillRect/>
          </a:stretch>
        </p:blipFill>
        <p:spPr>
          <a:xfrm>
            <a:off x="1722755" y="1650365"/>
            <a:ext cx="7392035" cy="46024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89" y="156238"/>
            <a:ext cx="8596668" cy="1320800"/>
          </a:xfrm>
        </p:spPr>
        <p:txBody>
          <a:bodyPr/>
          <a:lstStyle/>
          <a:p>
            <a:r>
              <a:rPr lang="en-US" b="1" dirty="0">
                <a:solidFill>
                  <a:schemeClr val="tx1"/>
                </a:solidFill>
              </a:rPr>
              <a:t> </a:t>
            </a:r>
            <a:endParaRPr lang="en-IN" dirty="0">
              <a:solidFill>
                <a:schemeClr val="tx1"/>
              </a:solidFill>
            </a:endParaRPr>
          </a:p>
        </p:txBody>
      </p:sp>
      <p:sp>
        <p:nvSpPr>
          <p:cNvPr id="3" name="Content Placeholder 2"/>
          <p:cNvSpPr>
            <a:spLocks noGrp="1"/>
          </p:cNvSpPr>
          <p:nvPr>
            <p:ph idx="1"/>
          </p:nvPr>
        </p:nvSpPr>
        <p:spPr>
          <a:xfrm>
            <a:off x="274320" y="635"/>
            <a:ext cx="8588375" cy="826135"/>
          </a:xfrm>
        </p:spPr>
        <p:txBody>
          <a:bodyPr>
            <a:normAutofit fontScale="25000" lnSpcReduction="20000"/>
          </a:bodyPr>
          <a:lstStyle/>
          <a:p>
            <a:pPr algn="just">
              <a:lnSpc>
                <a:spcPct val="150000"/>
              </a:lnSpc>
              <a:buClr>
                <a:schemeClr val="tx1"/>
              </a:buClr>
              <a:buNone/>
            </a:pPr>
            <a:r>
              <a:rPr lang="en-IN" sz="14400" b="1" dirty="0">
                <a:solidFill>
                  <a:schemeClr val="tx1"/>
                </a:solidFill>
              </a:rPr>
              <a:t>Modules :</a:t>
            </a:r>
            <a:endParaRPr lang="en-US" sz="14400" dirty="0">
              <a:solidFill>
                <a:schemeClr val="tx1"/>
              </a:solidFill>
            </a:endParaRPr>
          </a:p>
          <a:p>
            <a:pPr algn="just">
              <a:lnSpc>
                <a:spcPct val="150000"/>
              </a:lnSpc>
              <a:buClr>
                <a:schemeClr val="tx1"/>
              </a:buClr>
              <a:buFont typeface="Wingdings" panose="05000000000000000000" pitchFamily="2" charset="2"/>
              <a:buChar char="q"/>
            </a:pPr>
            <a:endParaRPr lang="en-IN" dirty="0"/>
          </a:p>
        </p:txBody>
      </p:sp>
      <p:sp>
        <p:nvSpPr>
          <p:cNvPr id="5" name="Rectangle 4"/>
          <p:cNvSpPr/>
          <p:nvPr/>
        </p:nvSpPr>
        <p:spPr>
          <a:xfrm>
            <a:off x="275626" y="3599235"/>
            <a:ext cx="3031778" cy="646331"/>
          </a:xfrm>
          <a:prstGeom prst="rect">
            <a:avLst/>
          </a:prstGeom>
        </p:spPr>
        <p:txBody>
          <a:bodyPr wrap="square">
            <a:spAutoFit/>
          </a:bodyPr>
          <a:lstStyle/>
          <a:p>
            <a:r>
              <a:rPr lang="en-US" sz="3600" b="1" dirty="0"/>
              <a:t> </a:t>
            </a:r>
            <a:endParaRPr lang="en-US" sz="3600" dirty="0"/>
          </a:p>
        </p:txBody>
      </p:sp>
      <p:sp>
        <p:nvSpPr>
          <p:cNvPr id="6" name="Text Box 5"/>
          <p:cNvSpPr txBox="1"/>
          <p:nvPr/>
        </p:nvSpPr>
        <p:spPr>
          <a:xfrm>
            <a:off x="964565" y="948055"/>
            <a:ext cx="9002395" cy="5367020"/>
          </a:xfrm>
          <a:prstGeom prst="rect">
            <a:avLst/>
          </a:prstGeom>
          <a:noFill/>
        </p:spPr>
        <p:txBody>
          <a:bodyPr wrap="square" rtlCol="0">
            <a:noAutofit/>
          </a:bodyPr>
          <a:lstStyle/>
          <a:p>
            <a:r>
              <a:rPr lang="en-US" altLang="en-US" sz="2000" b="1"/>
              <a:t>M</a:t>
            </a:r>
            <a:r>
              <a:rPr lang="en-US" altLang="en-US" sz="2000" b="1">
                <a:latin typeface="Arial" panose="020B0604020202020204" pitchFamily="34" charset="0"/>
                <a:cs typeface="Arial" panose="020B0604020202020204" pitchFamily="34" charset="0"/>
              </a:rPr>
              <a:t>odule 1 – Crawler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Navigates dark web links safely using the Tor network.</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2 – Scraper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Extracts relevant and structured data from crawled pages.</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3 – Data Analysis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Filters, processes, and analyzes collected information using AI techniques.</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4 – Storage &amp; Security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Stores data securely in encrypted databases with controlled access.</a:t>
            </a:r>
            <a:endParaRPr lang="en-US" altLang="en-US" sz="2000">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b="1">
                <a:latin typeface="Arial" panose="020B0604020202020204" pitchFamily="34" charset="0"/>
                <a:cs typeface="Arial" panose="020B0604020202020204" pitchFamily="34" charset="0"/>
              </a:rPr>
              <a:t>Module 5 – Reporting &amp; Monitoring Module</a:t>
            </a:r>
            <a:endParaRPr lang="en-US" altLang="en-US" sz="2000" b="1">
              <a:latin typeface="Arial" panose="020B0604020202020204" pitchFamily="34" charset="0"/>
              <a:cs typeface="Arial" panose="020B0604020202020204" pitchFamily="34" charset="0"/>
            </a:endParaRPr>
          </a:p>
          <a:p>
            <a:endParaRPr lang="en-US" altLang="en-US" sz="2000">
              <a:latin typeface="Arial" panose="020B0604020202020204" pitchFamily="34" charset="0"/>
              <a:cs typeface="Arial" panose="020B0604020202020204" pitchFamily="34" charset="0"/>
            </a:endParaRPr>
          </a:p>
          <a:p>
            <a:r>
              <a:rPr lang="en-US" altLang="en-US" sz="2000">
                <a:latin typeface="Arial" panose="020B0604020202020204" pitchFamily="34" charset="0"/>
                <a:cs typeface="Arial" panose="020B0604020202020204" pitchFamily="34" charset="0"/>
              </a:rPr>
              <a:t>Generates intelligence reports and monitors system performance.</a:t>
            </a:r>
            <a:endParaRPr lang="en-US" altLang="en-US" sz="200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120" y="185420"/>
            <a:ext cx="8334375" cy="793115"/>
          </a:xfrm>
        </p:spPr>
        <p:txBody>
          <a:bodyPr>
            <a:normAutofit fontScale="90000"/>
          </a:bodyPr>
          <a:lstStyle/>
          <a:p>
            <a:r>
              <a:rPr lang="en-US" altLang="en-US" b="1" dirty="0">
                <a:solidFill>
                  <a:schemeClr val="tx1"/>
                </a:solidFill>
              </a:rPr>
              <a:t>Module 1 – Crawler Module</a:t>
            </a:r>
            <a:br>
              <a:rPr lang="en-US" sz="2220" b="1" dirty="0">
                <a:solidFill>
                  <a:schemeClr val="tx1"/>
                </a:solidFill>
              </a:rPr>
            </a:br>
            <a:endParaRPr lang="en-IN" sz="2220" dirty="0">
              <a:solidFill>
                <a:schemeClr val="tx1"/>
              </a:solidFill>
            </a:endParaRPr>
          </a:p>
        </p:txBody>
      </p:sp>
      <p:sp>
        <p:nvSpPr>
          <p:cNvPr id="3" name="Content Placeholder 2"/>
          <p:cNvSpPr>
            <a:spLocks noGrp="1"/>
          </p:cNvSpPr>
          <p:nvPr>
            <p:ph idx="1"/>
          </p:nvPr>
        </p:nvSpPr>
        <p:spPr>
          <a:xfrm>
            <a:off x="492760" y="3964940"/>
            <a:ext cx="10538460" cy="2245995"/>
          </a:xfrm>
        </p:spPr>
        <p:txBody>
          <a:bodyPr>
            <a:noAutofit/>
          </a:bodyPr>
          <a:lstStyle/>
          <a:p>
            <a:pPr marL="0" indent="0">
              <a:lnSpc>
                <a:spcPct val="60000"/>
              </a:lnSpc>
              <a:buNone/>
            </a:pPr>
            <a:endParaRPr lang="en-US" altLang="en-US" sz="2000" dirty="0">
              <a:latin typeface="Arial" panose="020B0604020202020204" pitchFamily="34" charset="0"/>
              <a:cs typeface="Arial" panose="020B0604020202020204" pitchFamily="34" charset="0"/>
            </a:endParaRPr>
          </a:p>
          <a:p>
            <a:pPr marL="0" indent="0">
              <a:lnSpc>
                <a:spcPct val="60000"/>
              </a:lnSpc>
              <a:buNone/>
            </a:pPr>
            <a:r>
              <a:rPr lang="en-IN" altLang="en-US" sz="2000" b="1" dirty="0">
                <a:latin typeface="Arial" panose="020B0604020202020204" pitchFamily="34" charset="0"/>
                <a:cs typeface="Arial" panose="020B0604020202020204" pitchFamily="34" charset="0"/>
              </a:rPr>
              <a:t>WORKING</a:t>
            </a:r>
            <a:r>
              <a:rPr lang="en-US" altLang="en-US" sz="2000" b="1" dirty="0">
                <a:latin typeface="Arial" panose="020B0604020202020204" pitchFamily="34" charset="0"/>
                <a:cs typeface="Arial" panose="020B0604020202020204" pitchFamily="34" charset="0"/>
              </a:rPr>
              <a:t>:</a:t>
            </a:r>
            <a:endParaRPr lang="en-US" altLang="en-US" sz="2000" b="1"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Automatically discovers dark web (.onion) websites using predefined seed URLs.</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Establishes secure and anonymous connections through the Tor network.</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Crawls linked pages automatically within a defined depth limit.</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Avoids duplicate, invalid, broken, or inaccessible links efficiently.</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Stores visited URLs to prevent repetition and improve crawling performance.</a:t>
            </a:r>
            <a:endParaRPr lang="en-US" altLang="en-US" sz="2000" dirty="0">
              <a:latin typeface="Arial" panose="020B0604020202020204" pitchFamily="34" charset="0"/>
              <a:cs typeface="Arial" panose="020B0604020202020204" pitchFamily="34" charset="0"/>
            </a:endParaRPr>
          </a:p>
          <a:p>
            <a:pPr>
              <a:lnSpc>
                <a:spcPct val="60000"/>
              </a:lnSpc>
            </a:pPr>
            <a:r>
              <a:rPr lang="en-US" altLang="en-US" sz="2000" dirty="0">
                <a:latin typeface="Arial" panose="020B0604020202020204" pitchFamily="34" charset="0"/>
                <a:cs typeface="Arial" panose="020B0604020202020204" pitchFamily="34" charset="0"/>
              </a:rPr>
              <a:t>Maintains ethical crawling practices and logs activities for monitoring and auditing.</a:t>
            </a:r>
            <a:endParaRPr lang="en-US" altLang="en-US" sz="2000" dirty="0">
              <a:latin typeface="Arial" panose="020B0604020202020204" pitchFamily="34" charset="0"/>
              <a:cs typeface="Arial" panose="020B0604020202020204" pitchFamily="34" charset="0"/>
            </a:endParaRPr>
          </a:p>
          <a:p>
            <a:pPr marL="0" indent="0">
              <a:lnSpc>
                <a:spcPct val="60000"/>
              </a:lnSpc>
              <a:buNone/>
            </a:pPr>
            <a:endParaRPr lang="en-US" altLang="en-US" sz="2000" dirty="0">
              <a:latin typeface="Arial" panose="020B0604020202020204" pitchFamily="34" charset="0"/>
              <a:cs typeface="Arial" panose="020B0604020202020204" pitchFamily="34" charset="0"/>
            </a:endParaRPr>
          </a:p>
        </p:txBody>
      </p:sp>
      <p:pic>
        <p:nvPicPr>
          <p:cNvPr id="4" name="Picture 3" descr="WhatsApp Image 2026-04-21 at 13.16.02 (1)"/>
          <p:cNvPicPr>
            <a:picLocks noChangeAspect="1"/>
          </p:cNvPicPr>
          <p:nvPr/>
        </p:nvPicPr>
        <p:blipFill>
          <a:blip r:embed="rId1"/>
          <a:stretch>
            <a:fillRect/>
          </a:stretch>
        </p:blipFill>
        <p:spPr>
          <a:xfrm>
            <a:off x="756285" y="819150"/>
            <a:ext cx="7903210" cy="3238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77545" y="309880"/>
            <a:ext cx="8596630" cy="1620520"/>
          </a:xfrm>
        </p:spPr>
        <p:txBody>
          <a:bodyPr/>
          <a:p>
            <a:r>
              <a:rPr lang="en-US" altLang="en-US" b="1" dirty="0">
                <a:solidFill>
                  <a:schemeClr val="tx1"/>
                </a:solidFill>
                <a:sym typeface="+mn-ea"/>
              </a:rPr>
              <a:t>C</a:t>
            </a:r>
            <a:r>
              <a:rPr lang="en-IN" altLang="en-US" b="1" dirty="0">
                <a:solidFill>
                  <a:schemeClr val="tx1"/>
                </a:solidFill>
                <a:sym typeface="+mn-ea"/>
              </a:rPr>
              <a:t>oding Part 1</a:t>
            </a:r>
            <a:br>
              <a:rPr lang="en-US" b="1" dirty="0">
                <a:solidFill>
                  <a:schemeClr val="tx1"/>
                </a:solidFill>
                <a:sym typeface="+mn-ea"/>
              </a:rPr>
            </a:br>
            <a:endParaRPr lang="en-IN" altLang="en-US"/>
          </a:p>
        </p:txBody>
      </p:sp>
      <p:pic>
        <p:nvPicPr>
          <p:cNvPr id="4" name="Content Placeholder 3" descr="code 1"/>
          <p:cNvPicPr>
            <a:picLocks noChangeAspect="1"/>
          </p:cNvPicPr>
          <p:nvPr>
            <p:ph idx="1"/>
          </p:nvPr>
        </p:nvPicPr>
        <p:blipFill>
          <a:blip r:embed="rId1"/>
          <a:stretch>
            <a:fillRect/>
          </a:stretch>
        </p:blipFill>
        <p:spPr>
          <a:xfrm>
            <a:off x="1028700" y="1386840"/>
            <a:ext cx="6774180" cy="4988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367030" y="176530"/>
            <a:ext cx="6245860" cy="631825"/>
          </a:xfrm>
          <a:prstGeom prst="rect">
            <a:avLst/>
          </a:prstGeom>
          <a:noFill/>
        </p:spPr>
        <p:txBody>
          <a:bodyPr wrap="square" rtlCol="0">
            <a:noAutofit/>
          </a:bodyPr>
          <a:lstStyle/>
          <a:p>
            <a:r>
              <a:rPr lang="en-US" altLang="en-US" sz="3600" b="1" dirty="0">
                <a:sym typeface="+mn-ea"/>
              </a:rPr>
              <a:t>Module 2 – Scraper Module</a:t>
            </a:r>
            <a:endParaRPr lang="en-US" altLang="en-US" sz="3600" b="1" dirty="0">
              <a:sym typeface="+mn-ea"/>
            </a:endParaRPr>
          </a:p>
        </p:txBody>
      </p:sp>
      <p:sp>
        <p:nvSpPr>
          <p:cNvPr id="6" name="Text Box 5"/>
          <p:cNvSpPr txBox="1"/>
          <p:nvPr/>
        </p:nvSpPr>
        <p:spPr>
          <a:xfrm>
            <a:off x="469900" y="4173855"/>
            <a:ext cx="11090275" cy="2560320"/>
          </a:xfrm>
          <a:prstGeom prst="rect">
            <a:avLst/>
          </a:prstGeom>
          <a:noFill/>
        </p:spPr>
        <p:txBody>
          <a:bodyPr wrap="square" rtlCol="0">
            <a:noAutofit/>
          </a:bodyPr>
          <a:lstStyle/>
          <a:p>
            <a:pPr indent="0">
              <a:lnSpc>
                <a:spcPct val="100000"/>
              </a:lnSpc>
              <a:buFont typeface="Wingdings" panose="05000000000000000000" charset="0"/>
              <a:buNone/>
            </a:pPr>
            <a:endParaRPr lang="en-US" altLang="en-US" sz="2000" b="1">
              <a:latin typeface="Arial" panose="020B0604020202020204" pitchFamily="34" charset="0"/>
              <a:cs typeface="Arial" panose="020B0604020202020204" pitchFamily="34" charset="0"/>
            </a:endParaRPr>
          </a:p>
          <a:p>
            <a:pPr indent="0">
              <a:lnSpc>
                <a:spcPct val="100000"/>
              </a:lnSpc>
              <a:buFont typeface="Wingdings" panose="05000000000000000000" charset="0"/>
              <a:buNone/>
            </a:pPr>
            <a:r>
              <a:rPr lang="en-IN" altLang="en-US" sz="2000" b="1">
                <a:latin typeface="Arial" panose="020B0604020202020204" pitchFamily="34" charset="0"/>
                <a:cs typeface="Arial" panose="020B0604020202020204" pitchFamily="34" charset="0"/>
              </a:rPr>
              <a:t>WORKING</a:t>
            </a:r>
            <a:r>
              <a:rPr lang="en-US" altLang="en-US" sz="2000" b="1">
                <a:latin typeface="Arial" panose="020B0604020202020204" pitchFamily="34" charset="0"/>
                <a:cs typeface="Arial" panose="020B0604020202020204" pitchFamily="34" charset="0"/>
              </a:rPr>
              <a:t>:</a:t>
            </a:r>
            <a:endParaRPr lang="en-US" altLang="en-US" sz="2000" b="1">
              <a:latin typeface="Arial" panose="020B0604020202020204" pitchFamily="34" charset="0"/>
              <a:cs typeface="Arial" panose="020B0604020202020204" pitchFamily="34" charset="0"/>
            </a:endParaRPr>
          </a:p>
          <a:p>
            <a:pPr marL="285750" indent="-285750">
              <a:lnSpc>
                <a:spcPct val="100000"/>
              </a:lnSpc>
              <a:buFont typeface="Wingdings" panose="05000000000000000000" charset="0"/>
              <a:buChar char="Ø"/>
            </a:pPr>
            <a:r>
              <a:rPr lang="en-US" altLang="en-US" sz="2000">
                <a:latin typeface="Arial" panose="020B0604020202020204" pitchFamily="34" charset="0"/>
                <a:cs typeface="Arial" panose="020B0604020202020204" pitchFamily="34" charset="0"/>
              </a:rPr>
              <a:t>Receives raw page data from the crawler and parses HTML content from collected pages.</a:t>
            </a:r>
            <a:endParaRPr lang="en-US" altLang="en-US" sz="2000">
              <a:latin typeface="Arial" panose="020B0604020202020204" pitchFamily="34" charset="0"/>
              <a:cs typeface="Arial" panose="020B0604020202020204" pitchFamily="34" charset="0"/>
            </a:endParaRPr>
          </a:p>
          <a:p>
            <a:pPr marL="285750" indent="-285750">
              <a:lnSpc>
                <a:spcPct val="100000"/>
              </a:lnSpc>
              <a:buFont typeface="Wingdings" panose="05000000000000000000" charset="0"/>
              <a:buChar char="Ø"/>
            </a:pPr>
            <a:r>
              <a:rPr lang="en-US" altLang="en-US" sz="2000">
                <a:latin typeface="Arial" panose="020B0604020202020204" pitchFamily="34" charset="0"/>
                <a:cs typeface="Arial" panose="020B0604020202020204" pitchFamily="34" charset="0"/>
              </a:rPr>
              <a:t>Removes scripts, ads, and unwanted elements to clean the extracted data.</a:t>
            </a:r>
            <a:endParaRPr lang="en-US" altLang="en-US" sz="2000">
              <a:latin typeface="Arial" panose="020B0604020202020204" pitchFamily="34" charset="0"/>
              <a:cs typeface="Arial" panose="020B0604020202020204" pitchFamily="34" charset="0"/>
            </a:endParaRPr>
          </a:p>
          <a:p>
            <a:pPr marL="285750" indent="-285750">
              <a:lnSpc>
                <a:spcPct val="100000"/>
              </a:lnSpc>
              <a:buFont typeface="Wingdings" panose="05000000000000000000" charset="0"/>
              <a:buChar char="Ø"/>
            </a:pPr>
            <a:r>
              <a:rPr lang="en-US" altLang="en-US" sz="2000">
                <a:latin typeface="Arial" panose="020B0604020202020204" pitchFamily="34" charset="0"/>
                <a:cs typeface="Arial" panose="020B0604020202020204" pitchFamily="34" charset="0"/>
              </a:rPr>
              <a:t>Extracts useful text, titles, and discussion content from web pages.</a:t>
            </a:r>
            <a:endParaRPr lang="en-US" altLang="en-US" sz="2000">
              <a:latin typeface="Arial" panose="020B0604020202020204" pitchFamily="34" charset="0"/>
              <a:cs typeface="Arial" panose="020B0604020202020204" pitchFamily="34" charset="0"/>
            </a:endParaRPr>
          </a:p>
          <a:p>
            <a:pPr marL="285750" indent="-285750">
              <a:lnSpc>
                <a:spcPct val="100000"/>
              </a:lnSpc>
              <a:buFont typeface="Wingdings" panose="05000000000000000000" charset="0"/>
              <a:buChar char="Ø"/>
            </a:pPr>
            <a:r>
              <a:rPr lang="en-US" altLang="en-US" sz="2000">
                <a:latin typeface="Arial" panose="020B0604020202020204" pitchFamily="34" charset="0"/>
                <a:cs typeface="Arial" panose="020B0604020202020204" pitchFamily="34" charset="0"/>
              </a:rPr>
              <a:t>Cleans, preprocesses, and converts raw data into a structured format.</a:t>
            </a:r>
            <a:endParaRPr lang="en-US" altLang="en-US" sz="2000">
              <a:latin typeface="Arial" panose="020B0604020202020204" pitchFamily="34" charset="0"/>
              <a:cs typeface="Arial" panose="020B0604020202020204" pitchFamily="34" charset="0"/>
            </a:endParaRPr>
          </a:p>
          <a:p>
            <a:pPr marL="285750" indent="-285750">
              <a:lnSpc>
                <a:spcPct val="100000"/>
              </a:lnSpc>
              <a:buFont typeface="Wingdings" panose="05000000000000000000" charset="0"/>
              <a:buChar char="Ø"/>
            </a:pPr>
            <a:r>
              <a:rPr lang="en-US" altLang="en-US" sz="2000">
                <a:latin typeface="Arial" panose="020B0604020202020204" pitchFamily="34" charset="0"/>
                <a:cs typeface="Arial" panose="020B0604020202020204" pitchFamily="34" charset="0"/>
              </a:rPr>
              <a:t>Filters only cybersecurity-related information and stores the output for further analysis.</a:t>
            </a:r>
            <a:endParaRPr lang="en-US" altLang="en-US" sz="2000">
              <a:latin typeface="Arial" panose="020B0604020202020204" pitchFamily="34" charset="0"/>
              <a:cs typeface="Arial" panose="020B0604020202020204" pitchFamily="34" charset="0"/>
            </a:endParaRPr>
          </a:p>
          <a:p>
            <a:pPr marL="285750" indent="-285750">
              <a:lnSpc>
                <a:spcPct val="100000"/>
              </a:lnSpc>
              <a:buFont typeface="Wingdings" panose="05000000000000000000" charset="0"/>
              <a:buChar char="Ø"/>
            </a:pPr>
            <a:r>
              <a:rPr lang="en-US" altLang="en-US" sz="2000">
                <a:latin typeface="Arial" panose="020B0604020202020204" pitchFamily="34" charset="0"/>
                <a:cs typeface="Arial" panose="020B0604020202020204" pitchFamily="34" charset="0"/>
              </a:rPr>
              <a:t>Maintains logs while ensuring ethical, responsible, and privacy-conscious data usage.</a:t>
            </a: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endParaRPr lang="en-US" altLang="en-US" sz="2000">
              <a:latin typeface="Arial" panose="020B0604020202020204" pitchFamily="34" charset="0"/>
              <a:cs typeface="Arial" panose="020B0604020202020204" pitchFamily="34" charset="0"/>
            </a:endParaRPr>
          </a:p>
        </p:txBody>
      </p:sp>
      <p:pic>
        <p:nvPicPr>
          <p:cNvPr id="2" name="Picture 1" descr="WhatsApp Image 2026-04-21 at 13.16.02"/>
          <p:cNvPicPr>
            <a:picLocks noChangeAspect="1"/>
          </p:cNvPicPr>
          <p:nvPr/>
        </p:nvPicPr>
        <p:blipFill>
          <a:blip r:embed="rId1"/>
          <a:stretch>
            <a:fillRect/>
          </a:stretch>
        </p:blipFill>
        <p:spPr>
          <a:xfrm>
            <a:off x="568960" y="808990"/>
            <a:ext cx="9530080" cy="36868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77545" y="320675"/>
            <a:ext cx="8596630" cy="1609725"/>
          </a:xfrm>
        </p:spPr>
        <p:txBody>
          <a:bodyPr/>
          <a:p>
            <a:r>
              <a:rPr lang="en-US" altLang="en-US" b="1" dirty="0">
                <a:solidFill>
                  <a:schemeClr val="tx1"/>
                </a:solidFill>
                <a:sym typeface="+mn-ea"/>
              </a:rPr>
              <a:t>C</a:t>
            </a:r>
            <a:r>
              <a:rPr lang="en-IN" altLang="en-US" b="1" dirty="0">
                <a:solidFill>
                  <a:schemeClr val="tx1"/>
                </a:solidFill>
                <a:sym typeface="+mn-ea"/>
              </a:rPr>
              <a:t>oding Part 2</a:t>
            </a:r>
            <a:endParaRPr lang="en-US"/>
          </a:p>
        </p:txBody>
      </p:sp>
      <p:pic>
        <p:nvPicPr>
          <p:cNvPr id="6" name="Content Placeholder 5" descr="code 2"/>
          <p:cNvPicPr>
            <a:picLocks noChangeAspect="1"/>
          </p:cNvPicPr>
          <p:nvPr>
            <p:ph idx="1"/>
          </p:nvPr>
        </p:nvPicPr>
        <p:blipFill>
          <a:blip r:embed="rId1"/>
          <a:stretch>
            <a:fillRect/>
          </a:stretch>
        </p:blipFill>
        <p:spPr>
          <a:xfrm>
            <a:off x="998855" y="1410970"/>
            <a:ext cx="7490460" cy="48488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18795" y="201930"/>
            <a:ext cx="8755380" cy="1259840"/>
          </a:xfrm>
        </p:spPr>
        <p:txBody>
          <a:bodyPr/>
          <a:lstStyle/>
          <a:p>
            <a:r>
              <a:rPr lang="en-US" altLang="en-US" b="1" dirty="0">
                <a:solidFill>
                  <a:schemeClr val="tx1"/>
                </a:solidFill>
              </a:rPr>
              <a:t>Module 3 – Data Analysis Module</a:t>
            </a:r>
            <a:endParaRPr lang="en-US" altLang="en-US" b="1" dirty="0">
              <a:solidFill>
                <a:schemeClr val="tx1"/>
              </a:solidFill>
            </a:endParaRPr>
          </a:p>
        </p:txBody>
      </p:sp>
      <p:sp>
        <p:nvSpPr>
          <p:cNvPr id="3" name="Content Placeholder 2"/>
          <p:cNvSpPr>
            <a:spLocks noGrp="1"/>
          </p:cNvSpPr>
          <p:nvPr>
            <p:ph idx="1"/>
          </p:nvPr>
        </p:nvSpPr>
        <p:spPr>
          <a:xfrm>
            <a:off x="1762556" y="1930400"/>
            <a:ext cx="9270534" cy="3880773"/>
          </a:xfrm>
        </p:spPr>
        <p:txBody>
          <a:bodyPr/>
          <a:lstStyle/>
          <a:p>
            <a:pPr marL="0" indent="0">
              <a:buNone/>
            </a:pPr>
            <a:endParaRPr lang="en-IN" sz="2000" dirty="0"/>
          </a:p>
          <a:p>
            <a:pPr marL="0" indent="0">
              <a:buNone/>
            </a:pPr>
            <a:endParaRPr lang="en-IN" dirty="0"/>
          </a:p>
          <a:p>
            <a:endParaRPr lang="en-IN" dirty="0"/>
          </a:p>
        </p:txBody>
      </p:sp>
      <p:sp>
        <p:nvSpPr>
          <p:cNvPr id="4" name="Rectangle 2"/>
          <p:cNvSpPr>
            <a:spLocks noChangeArrowheads="1"/>
          </p:cNvSpPr>
          <p:nvPr/>
        </p:nvSpPr>
        <p:spPr bwMode="auto">
          <a:xfrm>
            <a:off x="0" y="-57837"/>
            <a:ext cx="999411" cy="572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8242" tIns="125373" rIns="91440" bIns="45720" numCol="1" anchor="ctr" anchorCtr="0" compatLnSpc="1">
            <a:spAutoFit/>
          </a:bodyPr>
          <a:lstStyle>
            <a:lvl1pPr eaLnBrk="0" fontAlgn="base" hangingPunct="0">
              <a:spcBef>
                <a:spcPct val="0"/>
              </a:spcBef>
              <a:spcAft>
                <a:spcPct val="0"/>
              </a:spcAft>
              <a:tabLst>
                <a:tab pos="1299845" algn="l"/>
              </a:tabLst>
              <a:defRPr>
                <a:solidFill>
                  <a:schemeClr val="tx1"/>
                </a:solidFill>
                <a:latin typeface="Arial" panose="020B0604020202020204" pitchFamily="34" charset="0"/>
              </a:defRPr>
            </a:lvl1pPr>
            <a:lvl2pPr eaLnBrk="0" fontAlgn="base" hangingPunct="0">
              <a:spcBef>
                <a:spcPct val="0"/>
              </a:spcBef>
              <a:spcAft>
                <a:spcPct val="0"/>
              </a:spcAft>
              <a:tabLst>
                <a:tab pos="1299845" algn="l"/>
              </a:tabLst>
              <a:defRPr>
                <a:solidFill>
                  <a:schemeClr val="tx1"/>
                </a:solidFill>
                <a:latin typeface="Arial" panose="020B0604020202020204" pitchFamily="34" charset="0"/>
              </a:defRPr>
            </a:lvl2pPr>
            <a:lvl3pPr eaLnBrk="0" fontAlgn="base" hangingPunct="0">
              <a:spcBef>
                <a:spcPct val="0"/>
              </a:spcBef>
              <a:spcAft>
                <a:spcPct val="0"/>
              </a:spcAft>
              <a:tabLst>
                <a:tab pos="1299845" algn="l"/>
              </a:tabLst>
              <a:defRPr>
                <a:solidFill>
                  <a:schemeClr val="tx1"/>
                </a:solidFill>
                <a:latin typeface="Arial" panose="020B0604020202020204" pitchFamily="34" charset="0"/>
              </a:defRPr>
            </a:lvl3pPr>
            <a:lvl4pPr eaLnBrk="0" fontAlgn="base" hangingPunct="0">
              <a:spcBef>
                <a:spcPct val="0"/>
              </a:spcBef>
              <a:spcAft>
                <a:spcPct val="0"/>
              </a:spcAft>
              <a:tabLst>
                <a:tab pos="1299845" algn="l"/>
              </a:tabLst>
              <a:defRPr>
                <a:solidFill>
                  <a:schemeClr val="tx1"/>
                </a:solidFill>
                <a:latin typeface="Arial" panose="020B0604020202020204" pitchFamily="34" charset="0"/>
              </a:defRPr>
            </a:lvl4pPr>
            <a:lvl5pPr eaLnBrk="0" fontAlgn="base" hangingPunct="0">
              <a:spcBef>
                <a:spcPct val="0"/>
              </a:spcBef>
              <a:spcAft>
                <a:spcPct val="0"/>
              </a:spcAft>
              <a:tabLst>
                <a:tab pos="1299845" algn="l"/>
              </a:tabLst>
              <a:defRPr>
                <a:solidFill>
                  <a:schemeClr val="tx1"/>
                </a:solidFill>
                <a:latin typeface="Arial" panose="020B0604020202020204" pitchFamily="34" charset="0"/>
              </a:defRPr>
            </a:lvl5pPr>
            <a:lvl6pPr eaLnBrk="0" fontAlgn="base" hangingPunct="0">
              <a:spcBef>
                <a:spcPct val="0"/>
              </a:spcBef>
              <a:spcAft>
                <a:spcPct val="0"/>
              </a:spcAft>
              <a:tabLst>
                <a:tab pos="1299845" algn="l"/>
              </a:tabLst>
              <a:defRPr>
                <a:solidFill>
                  <a:schemeClr val="tx1"/>
                </a:solidFill>
                <a:latin typeface="Arial" panose="020B0604020202020204" pitchFamily="34" charset="0"/>
              </a:defRPr>
            </a:lvl6pPr>
            <a:lvl7pPr eaLnBrk="0" fontAlgn="base" hangingPunct="0">
              <a:spcBef>
                <a:spcPct val="0"/>
              </a:spcBef>
              <a:spcAft>
                <a:spcPct val="0"/>
              </a:spcAft>
              <a:tabLst>
                <a:tab pos="1299845" algn="l"/>
              </a:tabLst>
              <a:defRPr>
                <a:solidFill>
                  <a:schemeClr val="tx1"/>
                </a:solidFill>
                <a:latin typeface="Arial" panose="020B0604020202020204" pitchFamily="34" charset="0"/>
              </a:defRPr>
            </a:lvl7pPr>
            <a:lvl8pPr eaLnBrk="0" fontAlgn="base" hangingPunct="0">
              <a:spcBef>
                <a:spcPct val="0"/>
              </a:spcBef>
              <a:spcAft>
                <a:spcPct val="0"/>
              </a:spcAft>
              <a:tabLst>
                <a:tab pos="1299845" algn="l"/>
              </a:tabLst>
              <a:defRPr>
                <a:solidFill>
                  <a:schemeClr val="tx1"/>
                </a:solidFill>
                <a:latin typeface="Arial" panose="020B0604020202020204" pitchFamily="34" charset="0"/>
              </a:defRPr>
            </a:lvl8pPr>
            <a:lvl9pPr eaLnBrk="0" fontAlgn="base" hangingPunct="0">
              <a:spcBef>
                <a:spcPct val="0"/>
              </a:spcBef>
              <a:spcAft>
                <a:spcPct val="0"/>
              </a:spcAft>
              <a:tabLst>
                <a:tab pos="129984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1299845" algn="l"/>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299845"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5"/>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 name="Rectangle 8"/>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 Box 6"/>
          <p:cNvSpPr txBox="1"/>
          <p:nvPr/>
        </p:nvSpPr>
        <p:spPr>
          <a:xfrm>
            <a:off x="519430" y="4321175"/>
            <a:ext cx="11143615" cy="2307590"/>
          </a:xfrm>
          <a:prstGeom prst="rect">
            <a:avLst/>
          </a:prstGeom>
          <a:noFill/>
        </p:spPr>
        <p:txBody>
          <a:bodyPr wrap="square" rtlCol="0">
            <a:noAutofit/>
          </a:bodyPr>
          <a:lstStyle/>
          <a:p>
            <a:pPr marL="342900" indent="-342900">
              <a:lnSpc>
                <a:spcPct val="90000"/>
              </a:lnSpc>
              <a:buFont typeface="Wingdings" panose="05000000000000000000" charset="0"/>
              <a:buChar char="Ø"/>
            </a:pPr>
            <a:endParaRPr lang="en-US" altLang="en-US" sz="2000">
              <a:latin typeface="Arial" panose="020B0604020202020204" pitchFamily="34" charset="0"/>
              <a:cs typeface="Arial" panose="020B0604020202020204" pitchFamily="34" charset="0"/>
            </a:endParaRPr>
          </a:p>
          <a:p>
            <a:pPr indent="0">
              <a:lnSpc>
                <a:spcPct val="90000"/>
              </a:lnSpc>
              <a:buFont typeface="Wingdings" panose="05000000000000000000" charset="0"/>
              <a:buNone/>
            </a:pPr>
            <a:r>
              <a:rPr lang="en-IN" altLang="en-US" sz="2000" b="1">
                <a:latin typeface="Arial" panose="020B0604020202020204" pitchFamily="34" charset="0"/>
                <a:cs typeface="Arial" panose="020B0604020202020204" pitchFamily="34" charset="0"/>
              </a:rPr>
              <a:t>WORKING</a:t>
            </a:r>
            <a:r>
              <a:rPr lang="en-US" altLang="en-US" sz="2000" b="1">
                <a:latin typeface="Arial" panose="020B0604020202020204" pitchFamily="34" charset="0"/>
                <a:cs typeface="Arial" panose="020B0604020202020204" pitchFamily="34" charset="0"/>
              </a:rPr>
              <a:t>:</a:t>
            </a:r>
            <a:endParaRPr lang="en-US" altLang="en-US" sz="2000" b="1">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Processes structured data from the scraper to detect threats, risks, and hidden patterns.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Performs text cleaning, preprocessing, and suspicious keyword identification.</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Applies NLP and AI-based techniques for advanced data analysis.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Classifies content into meaningful categories using pattern detection algorithms.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Performs sentiment, topic analysis, and generates actionable threat intelligence insights.</a:t>
            </a:r>
            <a:endParaRPr lang="en-US" altLang="en-US" sz="2000">
              <a:latin typeface="Arial" panose="020B0604020202020204" pitchFamily="34" charset="0"/>
              <a:cs typeface="Arial" panose="020B0604020202020204" pitchFamily="34" charset="0"/>
            </a:endParaRPr>
          </a:p>
          <a:p>
            <a:pPr marL="342900" indent="-342900">
              <a:lnSpc>
                <a:spcPct val="90000"/>
              </a:lnSpc>
              <a:buFont typeface="Wingdings" panose="05000000000000000000" charset="0"/>
              <a:buChar char="Ø"/>
            </a:pPr>
            <a:r>
              <a:rPr lang="en-US" altLang="en-US" sz="2000">
                <a:latin typeface="Arial" panose="020B0604020202020204" pitchFamily="34" charset="0"/>
                <a:cs typeface="Arial" panose="020B0604020202020204" pitchFamily="34" charset="0"/>
              </a:rPr>
              <a:t>Maintains transparency, reduces AI bias, and follows cybersecurity research standards.</a:t>
            </a:r>
            <a:endParaRPr lang="en-US" altLang="en-US" sz="2000">
              <a:latin typeface="Arial" panose="020B0604020202020204" pitchFamily="34" charset="0"/>
              <a:cs typeface="Arial" panose="020B0604020202020204" pitchFamily="34" charset="0"/>
            </a:endParaRPr>
          </a:p>
        </p:txBody>
      </p:sp>
      <p:pic>
        <p:nvPicPr>
          <p:cNvPr id="2" name="Picture 1" descr="M3"/>
          <p:cNvPicPr>
            <a:picLocks noChangeAspect="1"/>
          </p:cNvPicPr>
          <p:nvPr/>
        </p:nvPicPr>
        <p:blipFill>
          <a:blip r:embed="rId1"/>
          <a:stretch>
            <a:fillRect/>
          </a:stretch>
        </p:blipFill>
        <p:spPr>
          <a:xfrm>
            <a:off x="731520" y="838200"/>
            <a:ext cx="10728960" cy="36785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b="1" dirty="0">
                <a:solidFill>
                  <a:schemeClr val="tx1"/>
                </a:solidFill>
                <a:sym typeface="+mn-ea"/>
              </a:rPr>
              <a:t>C</a:t>
            </a:r>
            <a:r>
              <a:rPr lang="en-IN" altLang="en-US" b="1" dirty="0">
                <a:solidFill>
                  <a:schemeClr val="tx1"/>
                </a:solidFill>
                <a:sym typeface="+mn-ea"/>
              </a:rPr>
              <a:t>oding Part 3</a:t>
            </a:r>
            <a:endParaRPr lang="en-US"/>
          </a:p>
        </p:txBody>
      </p:sp>
      <p:pic>
        <p:nvPicPr>
          <p:cNvPr id="6" name="Content Placeholder 5" descr="code 3"/>
          <p:cNvPicPr>
            <a:picLocks noChangeAspect="1"/>
          </p:cNvPicPr>
          <p:nvPr>
            <p:ph idx="1"/>
          </p:nvPr>
        </p:nvPicPr>
        <p:blipFill>
          <a:blip r:embed="rId1"/>
          <a:stretch>
            <a:fillRect/>
          </a:stretch>
        </p:blipFill>
        <p:spPr>
          <a:xfrm>
            <a:off x="903605" y="1641475"/>
            <a:ext cx="7266940" cy="4479925"/>
          </a:xfrm>
          <a:prstGeom prst="rect">
            <a:avLst/>
          </a:prstGeom>
        </p:spPr>
      </p:pic>
      <p:sp>
        <p:nvSpPr>
          <p:cNvPr id="7" name="Text Box 6"/>
          <p:cNvSpPr txBox="1"/>
          <p:nvPr/>
        </p:nvSpPr>
        <p:spPr>
          <a:xfrm>
            <a:off x="3948430" y="961390"/>
            <a:ext cx="4064000" cy="368300"/>
          </a:xfrm>
          <a:prstGeom prst="rect">
            <a:avLst/>
          </a:prstGeom>
          <a:noFill/>
        </p:spPr>
        <p:txBody>
          <a:bodyPr wrap="square" rtlCol="0">
            <a:spAutoFit/>
          </a:bodyPr>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3230" y="345440"/>
            <a:ext cx="8830945" cy="1584960"/>
          </a:xfrm>
        </p:spPr>
        <p:txBody>
          <a:bodyPr/>
          <a:lstStyle/>
          <a:p>
            <a:r>
              <a:rPr lang="en-US" altLang="en-US" b="1">
                <a:solidFill>
                  <a:schemeClr val="tx1"/>
                </a:solidFill>
              </a:rPr>
              <a:t>Module 4 – Storage &amp; Security Module</a:t>
            </a:r>
            <a:endParaRPr lang="en-US" altLang="en-US" b="1">
              <a:solidFill>
                <a:schemeClr val="tx1"/>
              </a:solidFill>
            </a:endParaRPr>
          </a:p>
        </p:txBody>
      </p:sp>
      <p:sp>
        <p:nvSpPr>
          <p:cNvPr id="4" name="Text Box 3"/>
          <p:cNvSpPr txBox="1"/>
          <p:nvPr/>
        </p:nvSpPr>
        <p:spPr>
          <a:xfrm>
            <a:off x="443865" y="4458335"/>
            <a:ext cx="11320780" cy="2677160"/>
          </a:xfrm>
          <a:prstGeom prst="rect">
            <a:avLst/>
          </a:prstGeom>
          <a:noFill/>
        </p:spPr>
        <p:txBody>
          <a:bodyPr wrap="square" rtlCol="0">
            <a:noAutofit/>
          </a:bodyPr>
          <a:lstStyle/>
          <a:p>
            <a:endParaRPr lang="en-US" altLang="en-US" sz="2000" b="1">
              <a:latin typeface="Arial" panose="020B0604020202020204" pitchFamily="34" charset="0"/>
              <a:cs typeface="Arial" panose="020B0604020202020204" pitchFamily="34" charset="0"/>
            </a:endParaRPr>
          </a:p>
          <a:p>
            <a:pPr indent="0">
              <a:buFont typeface="Wingdings" panose="05000000000000000000" charset="0"/>
              <a:buNone/>
            </a:pPr>
            <a:r>
              <a:rPr lang="en-IN" altLang="en-US" sz="2000" b="1">
                <a:latin typeface="Arial" panose="020B0604020202020204" pitchFamily="34" charset="0"/>
                <a:cs typeface="Arial" panose="020B0604020202020204" pitchFamily="34" charset="0"/>
              </a:rPr>
              <a:t>WORKING</a:t>
            </a:r>
            <a:r>
              <a:rPr lang="en-US" altLang="en-US" sz="2000" b="1">
                <a:latin typeface="Arial" panose="020B0604020202020204" pitchFamily="34" charset="0"/>
                <a:cs typeface="Arial" panose="020B0604020202020204" pitchFamily="34" charset="0"/>
              </a:rPr>
              <a:t>:</a:t>
            </a:r>
            <a:endParaRPr lang="en-US" altLang="en-US" sz="2000" b="1">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Receives processed data and securely stores collected and analyzed information.</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Encrypts sensitive data before storing it in secure databases.</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Implements strong authentication and access control mechanisms.</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Indexes stored data for quick retrieval and efficient manage</a:t>
            </a:r>
            <a:r>
              <a:rPr lang="en-IN" altLang="en-US" sz="2000">
                <a:latin typeface="Arial" panose="020B0604020202020204" pitchFamily="34" charset="0"/>
                <a:cs typeface="Arial" panose="020B0604020202020204" pitchFamily="34" charset="0"/>
              </a:rPr>
              <a:t>.</a:t>
            </a:r>
            <a:endParaRPr lang="en-US" altLang="en-US" sz="200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a:latin typeface="Arial" panose="020B0604020202020204" pitchFamily="34" charset="0"/>
                <a:cs typeface="Arial" panose="020B0604020202020204" pitchFamily="34" charset="0"/>
              </a:rPr>
              <a:t>Protects data integrity, prevents unauthorized access, and follows security standards.</a:t>
            </a:r>
            <a:endParaRPr lang="en-US" altLang="en-US" sz="2000">
              <a:latin typeface="Arial" panose="020B0604020202020204" pitchFamily="34" charset="0"/>
              <a:cs typeface="Arial" panose="020B0604020202020204" pitchFamily="34" charset="0"/>
            </a:endParaRPr>
          </a:p>
        </p:txBody>
      </p:sp>
      <p:pic>
        <p:nvPicPr>
          <p:cNvPr id="3" name="Picture 2" descr="M4"/>
          <p:cNvPicPr>
            <a:picLocks noChangeAspect="1"/>
          </p:cNvPicPr>
          <p:nvPr/>
        </p:nvPicPr>
        <p:blipFill>
          <a:blip r:embed="rId1"/>
          <a:stretch>
            <a:fillRect/>
          </a:stretch>
        </p:blipFill>
        <p:spPr>
          <a:xfrm>
            <a:off x="559435" y="987425"/>
            <a:ext cx="10901045" cy="37731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b="1" dirty="0">
                <a:solidFill>
                  <a:schemeClr val="tx1"/>
                </a:solidFill>
                <a:sym typeface="+mn-ea"/>
              </a:rPr>
              <a:t>C</a:t>
            </a:r>
            <a:r>
              <a:rPr lang="en-IN" altLang="en-US" b="1" dirty="0">
                <a:solidFill>
                  <a:schemeClr val="tx1"/>
                </a:solidFill>
                <a:sym typeface="+mn-ea"/>
              </a:rPr>
              <a:t>oding Part 3</a:t>
            </a:r>
            <a:endParaRPr lang="en-US"/>
          </a:p>
        </p:txBody>
      </p:sp>
      <p:pic>
        <p:nvPicPr>
          <p:cNvPr id="4" name="Content Placeholder 3" descr="code 4"/>
          <p:cNvPicPr>
            <a:picLocks noChangeAspect="1"/>
          </p:cNvPicPr>
          <p:nvPr>
            <p:ph idx="1"/>
          </p:nvPr>
        </p:nvPicPr>
        <p:blipFill>
          <a:blip r:embed="rId1"/>
          <a:stretch>
            <a:fillRect/>
          </a:stretch>
        </p:blipFill>
        <p:spPr>
          <a:xfrm>
            <a:off x="1336040" y="1445260"/>
            <a:ext cx="7278370" cy="459613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586740" y="307975"/>
            <a:ext cx="9543415" cy="453390"/>
          </a:xfrm>
          <a:prstGeom prst="rect">
            <a:avLst/>
          </a:prstGeom>
          <a:noFill/>
        </p:spPr>
        <p:txBody>
          <a:bodyPr wrap="square" rtlCol="0">
            <a:noAutofit/>
          </a:bodyPr>
          <a:lstStyle/>
          <a:p>
            <a:r>
              <a:rPr lang="en-US" altLang="en-US" sz="3600" b="1"/>
              <a:t>Module 5 – Reporting &amp; Monitoring Module</a:t>
            </a:r>
            <a:endParaRPr lang="en-US" altLang="en-US" sz="3600" b="1"/>
          </a:p>
        </p:txBody>
      </p:sp>
      <p:sp>
        <p:nvSpPr>
          <p:cNvPr id="7" name="Text Box 6"/>
          <p:cNvSpPr txBox="1"/>
          <p:nvPr/>
        </p:nvSpPr>
        <p:spPr>
          <a:xfrm>
            <a:off x="668655" y="4625975"/>
            <a:ext cx="10581005" cy="1718945"/>
          </a:xfrm>
          <a:prstGeom prst="rect">
            <a:avLst/>
          </a:prstGeom>
          <a:noFill/>
        </p:spPr>
        <p:txBody>
          <a:bodyPr wrap="square" rtlCol="0">
            <a:noAutofit/>
          </a:bodyPr>
          <a:lstStyle/>
          <a:p>
            <a:pPr indent="0">
              <a:buFont typeface="Wingdings" panose="05000000000000000000" charset="0"/>
              <a:buNone/>
            </a:pPr>
            <a:r>
              <a:rPr lang="en-IN" altLang="en-US" sz="2000" b="1" dirty="0">
                <a:latin typeface="Arial" panose="020B0604020202020204" pitchFamily="34" charset="0"/>
                <a:cs typeface="Arial" panose="020B0604020202020204" pitchFamily="34" charset="0"/>
              </a:rPr>
              <a:t>WORKING</a:t>
            </a:r>
            <a:r>
              <a:rPr lang="en-US" altLang="en-US" sz="2000" dirty="0">
                <a:latin typeface="Arial" panose="020B0604020202020204" pitchFamily="34" charset="0"/>
                <a:cs typeface="Arial" panose="020B0604020202020204" pitchFamily="34" charset="0"/>
              </a:rPr>
              <a:t>:</a:t>
            </a:r>
            <a:endParaRPr lang="en-US" altLang="en-US" sz="2000" dirty="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Generates intelligence reports and structured summaries of detected threats.</a:t>
            </a:r>
            <a:endParaRPr lang="en-US" altLang="en-US" sz="2000" dirty="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Provides dashboards and visualizations for trends and keyword frequency.</a:t>
            </a:r>
            <a:endParaRPr lang="en-US" altLang="en-US" sz="2000" dirty="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Monitors crawler, scraper, and analysis performance with system health tracking.</a:t>
            </a:r>
            <a:endParaRPr lang="en-US" altLang="en-US" sz="2000" dirty="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Tracks system errors, operational metrics, and maintains activity logs.</a:t>
            </a:r>
            <a:endParaRPr lang="en-US" altLang="en-US" sz="2000" dirty="0">
              <a:latin typeface="Arial" panose="020B0604020202020204" pitchFamily="34" charset="0"/>
              <a:cs typeface="Arial" panose="020B0604020202020204" pitchFamily="34" charset="0"/>
            </a:endParaRPr>
          </a:p>
          <a:p>
            <a:pPr marL="342900" indent="-342900">
              <a:buFont typeface="Wingdings" panose="05000000000000000000" charset="0"/>
              <a:buChar char="Ø"/>
            </a:pPr>
            <a:r>
              <a:rPr lang="en-US" altLang="en-US" sz="2000" dirty="0">
                <a:latin typeface="Arial" panose="020B0604020202020204" pitchFamily="34" charset="0"/>
                <a:cs typeface="Arial" panose="020B0604020202020204" pitchFamily="34" charset="0"/>
              </a:rPr>
              <a:t>Restricts report access, masks sensitive data, and follows security compliance standards.</a:t>
            </a:r>
            <a:endParaRPr lang="en-US" altLang="en-US" sz="2000" dirty="0">
              <a:latin typeface="Arial" panose="020B0604020202020204" pitchFamily="34" charset="0"/>
              <a:cs typeface="Arial" panose="020B0604020202020204" pitchFamily="34" charset="0"/>
            </a:endParaRPr>
          </a:p>
        </p:txBody>
      </p:sp>
      <p:pic>
        <p:nvPicPr>
          <p:cNvPr id="2" name="Picture 1" descr="M5"/>
          <p:cNvPicPr>
            <a:picLocks noChangeAspect="1"/>
          </p:cNvPicPr>
          <p:nvPr/>
        </p:nvPicPr>
        <p:blipFill>
          <a:blip r:embed="rId1"/>
          <a:stretch>
            <a:fillRect/>
          </a:stretch>
        </p:blipFill>
        <p:spPr>
          <a:xfrm>
            <a:off x="520700" y="1010920"/>
            <a:ext cx="10728960" cy="353187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661" y="156238"/>
            <a:ext cx="8596668" cy="1320800"/>
          </a:xfrm>
        </p:spPr>
        <p:txBody>
          <a:bodyPr/>
          <a:lstStyle/>
          <a:p>
            <a:r>
              <a:rPr lang="en-US" b="1" dirty="0">
                <a:solidFill>
                  <a:schemeClr val="tx1"/>
                </a:solidFill>
              </a:rPr>
              <a:t>Conclusion</a:t>
            </a:r>
            <a:endParaRPr lang="en-IN" dirty="0">
              <a:solidFill>
                <a:schemeClr val="tx1"/>
              </a:solidFill>
            </a:endParaRPr>
          </a:p>
        </p:txBody>
      </p:sp>
      <p:sp>
        <p:nvSpPr>
          <p:cNvPr id="3" name="Content Placeholder 2"/>
          <p:cNvSpPr>
            <a:spLocks noGrp="1"/>
          </p:cNvSpPr>
          <p:nvPr>
            <p:ph idx="1"/>
          </p:nvPr>
        </p:nvSpPr>
        <p:spPr>
          <a:xfrm>
            <a:off x="666750" y="812800"/>
            <a:ext cx="8596630" cy="3851910"/>
          </a:xfrm>
        </p:spPr>
        <p:txBody>
          <a:bodyPr>
            <a:normAutofit lnSpcReduction="10000"/>
          </a:bodyPr>
          <a:lstStyle/>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Dark web crawler and scraper system enables safe and efficient exploration of hidden web content.</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Tor network integration ensures anonymity and security for researchers.</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Modular design allows easy upgrades and maintenance.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Data analysis and filtering provide structured and meaningful insights.</a:t>
            </a:r>
            <a:endParaRPr lang="zh-CN"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Secure storage ensures data integrity and protection. </a:t>
            </a:r>
            <a:endParaRPr lang="en-US" altLang="en-US" sz="2000" dirty="0">
              <a:solidFill>
                <a:schemeClr val="tx1">
                  <a:lumMod val="95000"/>
                  <a:lumOff val="5000"/>
                </a:schemeClr>
              </a:solidFill>
              <a:latin typeface="Arial" panose="020B0604020202020204" pitchFamily="34" charset="0"/>
              <a:cs typeface="Arial" panose="020B0604020202020204" pitchFamily="34" charset="0"/>
            </a:endParaRPr>
          </a:p>
          <a:p>
            <a:pPr algn="just">
              <a:lnSpc>
                <a:spcPct val="150000"/>
              </a:lnSpc>
              <a:buClr>
                <a:schemeClr val="tx1"/>
              </a:buClr>
              <a:buFont typeface="Wingdings" panose="05000000000000000000" pitchFamily="2" charset="2"/>
              <a:buChar char="q"/>
            </a:pPr>
            <a:r>
              <a:rPr lang="en-US" altLang="en-US" sz="2000" dirty="0">
                <a:solidFill>
                  <a:schemeClr val="tx1">
                    <a:lumMod val="95000"/>
                    <a:lumOff val="5000"/>
                  </a:schemeClr>
                </a:solidFill>
                <a:latin typeface="Arial" panose="020B0604020202020204" pitchFamily="34" charset="0"/>
                <a:cs typeface="Arial" panose="020B0604020202020204" pitchFamily="34" charset="0"/>
                <a:sym typeface="+mn-ea"/>
              </a:rPr>
              <a:t>Ethical and legal controls minimize risks of misuse</a:t>
            </a:r>
            <a:r>
              <a:rPr lang="en-US" altLang="en-US" sz="2000" dirty="0">
                <a:solidFill>
                  <a:schemeClr val="tx1">
                    <a:lumMod val="95000"/>
                    <a:lumOff val="5000"/>
                  </a:schemeClr>
                </a:solidFill>
                <a:sym typeface="+mn-ea"/>
              </a:rPr>
              <a:t>. </a:t>
            </a:r>
            <a:endParaRPr lang="en-US" altLang="en-US" sz="2000" dirty="0">
              <a:solidFill>
                <a:schemeClr val="tx1">
                  <a:lumMod val="95000"/>
                  <a:lumOff val="5000"/>
                </a:schemeClr>
              </a:solidFill>
            </a:endParaRPr>
          </a:p>
          <a:p>
            <a:pPr algn="just">
              <a:lnSpc>
                <a:spcPct val="150000"/>
              </a:lnSpc>
              <a:buClr>
                <a:schemeClr val="tx1"/>
              </a:buClr>
              <a:buFont typeface="Wingdings" panose="05000000000000000000" pitchFamily="2" charset="2"/>
              <a:buChar char="q"/>
            </a:pPr>
            <a:endParaRPr lang="en-US" altLang="en-US" dirty="0">
              <a:solidFill>
                <a:schemeClr val="tx1">
                  <a:lumMod val="95000"/>
                  <a:lumOff val="5000"/>
                </a:schemeClr>
              </a:solidFill>
            </a:endParaRPr>
          </a:p>
          <a:p>
            <a:pPr algn="just">
              <a:lnSpc>
                <a:spcPct val="150000"/>
              </a:lnSpc>
              <a:buClr>
                <a:schemeClr val="tx1"/>
              </a:buClr>
              <a:buFont typeface="Wingdings" panose="05000000000000000000" pitchFamily="2" charset="2"/>
              <a:buChar char="q"/>
            </a:pPr>
            <a:endParaRPr lang="en-IN" dirty="0"/>
          </a:p>
        </p:txBody>
      </p:sp>
      <p:sp>
        <p:nvSpPr>
          <p:cNvPr id="4" name="Cloud Callout 3"/>
          <p:cNvSpPr/>
          <p:nvPr/>
        </p:nvSpPr>
        <p:spPr>
          <a:xfrm>
            <a:off x="2986392" y="5048656"/>
            <a:ext cx="4659549" cy="1274323"/>
          </a:xfrm>
          <a:prstGeom prst="cloud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THANK YOU !</a:t>
            </a:r>
            <a:endParaRPr lang="en-US" b="1" dirty="0">
              <a:solidFill>
                <a:schemeClr val="tx1">
                  <a:lumMod val="95000"/>
                  <a:lumOff val="5000"/>
                </a:schemeClr>
              </a:solidFill>
            </a:endParaRPr>
          </a:p>
        </p:txBody>
      </p:sp>
    </p:spTree>
  </p:cSld>
  <p:clrMapOvr>
    <a:masterClrMapping/>
  </p:clrMapOvr>
</p:sld>
</file>

<file path=ppt/tags/tag1.xml><?xml version="1.0" encoding="utf-8"?>
<p:tagLst xmlns:p="http://schemas.openxmlformats.org/presentationml/2006/main">
  <p:tag name="KSO_WM_UNIT_INDEX" val="1"/>
  <p:tag name="KSO_WM_UNIT_TYPE" val="a"/>
  <p:tag name="KSO_WM_BEAUTIFY_FLAG" val="#wm#"/>
  <p:tag name="SLIDEZORDER" val="1"/>
  <p:tag name="KSO_WM_SHAPE_PLACEHOLDEROBJECT" val="1"/>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0</TotalTime>
  <Words>5859</Words>
  <Application>WPS Presentation</Application>
  <PresentationFormat>Widescreen</PresentationFormat>
  <Paragraphs>175</Paragraphs>
  <Slides>17</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Wingdings 3</vt:lpstr>
      <vt:lpstr>Arial</vt:lpstr>
      <vt:lpstr>Wingdings</vt:lpstr>
      <vt:lpstr>Trebuchet MS</vt:lpstr>
      <vt:lpstr>Microsoft YaHei</vt:lpstr>
      <vt:lpstr>Arial Unicode MS</vt:lpstr>
      <vt:lpstr>Calibri</vt:lpstr>
      <vt:lpstr>华文新魏</vt:lpstr>
      <vt:lpstr>Liberation Mono</vt:lpstr>
      <vt:lpstr>Facet</vt:lpstr>
      <vt:lpstr>    DARK WEB CRAWLER AND SCRAPER WITH  LLM-BASED SECURITY ANALYSIS</vt:lpstr>
      <vt:lpstr>Problem Statement</vt:lpstr>
      <vt:lpstr>Objective</vt:lpstr>
      <vt:lpstr>Existing System</vt:lpstr>
      <vt:lpstr> Proposed System :</vt:lpstr>
      <vt:lpstr>SYSTEM ARCHITECTURE/FLOW DIAGRAM</vt:lpstr>
      <vt:lpstr> </vt:lpstr>
      <vt:lpstr>Module 1 – Crawler Module </vt:lpstr>
      <vt:lpstr>PowerPoint 演示文稿</vt:lpstr>
      <vt:lpstr>PowerPoint 演示文稿</vt:lpstr>
      <vt:lpstr>PowerPoint 演示文稿</vt:lpstr>
      <vt:lpstr>Module 3 – Data Analysis Module</vt:lpstr>
      <vt:lpstr>PowerPoint 演示文稿</vt:lpstr>
      <vt:lpstr>Module 4 – Storage &amp; Security Module</vt:lpstr>
      <vt:lpstr>PowerPoint 演示文稿</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 MATCH AI CLOUD BASED   STARTUP AND INVESTOR   MATCHING PLATFORM</dc:title>
  <dc:creator>vishalrameshv13@gmail.com</dc:creator>
  <cp:lastModifiedBy>Sharmi Kannan</cp:lastModifiedBy>
  <cp:revision>20</cp:revision>
  <dcterms:created xsi:type="dcterms:W3CDTF">2024-12-13T12:01:00Z</dcterms:created>
  <dcterms:modified xsi:type="dcterms:W3CDTF">2026-04-21T08:24:27Z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3A222EFAF22242A5A19338E25A7A0BEC_13</vt:lpwstr>
  </property>
  <property fmtid="{D5CDD505-2E9C-101B-9397-08002B2CF9AE}" pid="3" name="KSOProductBuildVer">
    <vt:lpwstr>1033-12.1.0.25242</vt:lpwstr>
  </property>
</Properties>
</file>