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87" r:id="rId4"/>
    <p:sldId id="288" r:id="rId5"/>
    <p:sldId id="260" r:id="rId6"/>
    <p:sldId id="262" r:id="rId7"/>
    <p:sldId id="289" r:id="rId8"/>
    <p:sldId id="278" r:id="rId9"/>
    <p:sldId id="267" r:id="rId10"/>
    <p:sldId id="284" r:id="rId11"/>
    <p:sldId id="294" r:id="rId12"/>
    <p:sldId id="293" r:id="rId13"/>
    <p:sldId id="292" r:id="rId14"/>
    <p:sldId id="295" r:id="rId15"/>
    <p:sldId id="27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6" d="100"/>
          <a:sy n="76" d="100"/>
        </p:scale>
        <p:origin x="91" y="10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DB5D49-D36C-493B-894D-932D7F127419}"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CABEA3-6D73-4EBD-8EF0-C59349BF264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9CABEA3-6D73-4EBD-8EF0-C59349BF264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55210B4-056D-4E03-BC43-18DEB964B03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55210B4-056D-4E03-BC43-18DEB964B032}"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5210B4-056D-4E03-BC43-18DEB964B032}"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10B4-056D-4E03-BC43-18DEB964B032}"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5210B4-056D-4E03-BC43-18DEB964B03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5210B4-056D-4E03-BC43-18DEB964B03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55210B4-056D-4E03-BC43-18DEB964B032}" type="datetimeFigureOut">
              <a:rPr lang="en-IN" smtClean="0"/>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97425F-F61E-4FC1-8556-5501FC3A8870}"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42745" y="301625"/>
            <a:ext cx="8006715" cy="1867535"/>
          </a:xfrm>
        </p:spPr>
        <p:txBody>
          <a:bodyPr>
            <a:normAutofit/>
          </a:bodyPr>
          <a:lstStyle/>
          <a:p>
            <a:pPr algn="ctr"/>
            <a:r>
              <a:rPr lang="en-US" sz="3200" b="1" dirty="0">
                <a:solidFill>
                  <a:schemeClr val="tx1"/>
                </a:solidFill>
              </a:rPr>
              <a:t>   </a:t>
            </a:r>
            <a:r>
              <a:rPr lang="en-US" sz="3200" b="1" dirty="0">
                <a:solidFill>
                  <a:schemeClr val="tx1">
                    <a:lumMod val="85000"/>
                    <a:lumOff val="15000"/>
                  </a:schemeClr>
                </a:solidFill>
              </a:rPr>
              <a:t> </a:t>
            </a:r>
            <a:r>
              <a:rPr lang="en-US" sz="3200">
                <a:solidFill>
                  <a:schemeClr val="tx1"/>
                </a:solidFill>
                <a:effectLst>
                  <a:outerShdw blurRad="38100" dist="19050" dir="2700000" algn="tl" rotWithShape="0">
                    <a:schemeClr val="dk1">
                      <a:alpha val="40000"/>
                    </a:schemeClr>
                  </a:outerShdw>
                </a:effectLst>
                <a:sym typeface="+mn-ea"/>
              </a:rPr>
              <a:t>DARK WEB CRAWLER AND SC</a:t>
            </a:r>
            <a:r>
              <a:rPr lang="en-IN" altLang="en-US" sz="3200">
                <a:solidFill>
                  <a:schemeClr val="tx1"/>
                </a:solidFill>
                <a:effectLst>
                  <a:outerShdw blurRad="38100" dist="19050" dir="2700000" algn="tl" rotWithShape="0">
                    <a:schemeClr val="dk1">
                      <a:alpha val="40000"/>
                    </a:schemeClr>
                  </a:outerShdw>
                </a:effectLst>
                <a:sym typeface="+mn-ea"/>
              </a:rPr>
              <a:t>R</a:t>
            </a:r>
            <a:r>
              <a:rPr lang="en-US" sz="3200">
                <a:solidFill>
                  <a:schemeClr val="tx1"/>
                </a:solidFill>
                <a:effectLst>
                  <a:outerShdw blurRad="38100" dist="19050" dir="2700000" algn="tl" rotWithShape="0">
                    <a:schemeClr val="dk1">
                      <a:alpha val="40000"/>
                    </a:schemeClr>
                  </a:outerShdw>
                </a:effectLst>
                <a:sym typeface="+mn-ea"/>
              </a:rPr>
              <a:t>APER WITH</a:t>
            </a:r>
            <a:br>
              <a:rPr lang="en-US" sz="3200">
                <a:solidFill>
                  <a:schemeClr val="tx1"/>
                </a:solidFill>
                <a:effectLst>
                  <a:outerShdw blurRad="38100" dist="19050" dir="2700000" algn="tl" rotWithShape="0">
                    <a:schemeClr val="dk1">
                      <a:alpha val="40000"/>
                    </a:schemeClr>
                  </a:outerShdw>
                </a:effectLst>
                <a:sym typeface="+mn-ea"/>
              </a:rPr>
            </a:br>
            <a:r>
              <a:rPr lang="en-US" sz="3200">
                <a:solidFill>
                  <a:schemeClr val="tx1"/>
                </a:solidFill>
                <a:effectLst>
                  <a:outerShdw blurRad="38100" dist="19050" dir="2700000" algn="tl" rotWithShape="0">
                    <a:schemeClr val="dk1">
                      <a:alpha val="40000"/>
                    </a:schemeClr>
                  </a:outerShdw>
                </a:effectLst>
                <a:sym typeface="+mn-ea"/>
              </a:rPr>
              <a:t> LLM-BASED SECURITY ANALYSIS</a:t>
            </a:r>
            <a:endParaRPr lang="en-IN" sz="3200" b="1" dirty="0">
              <a:solidFill>
                <a:schemeClr val="tx1">
                  <a:lumMod val="85000"/>
                  <a:lumOff val="15000"/>
                </a:schemeClr>
              </a:solidFill>
            </a:endParaRPr>
          </a:p>
        </p:txBody>
      </p:sp>
      <p:sp>
        <p:nvSpPr>
          <p:cNvPr id="3" name="Subtitle 2"/>
          <p:cNvSpPr>
            <a:spLocks noGrp="1"/>
          </p:cNvSpPr>
          <p:nvPr>
            <p:ph type="subTitle" idx="1"/>
          </p:nvPr>
        </p:nvSpPr>
        <p:spPr>
          <a:xfrm>
            <a:off x="2081719" y="2558375"/>
            <a:ext cx="8501974" cy="2830748"/>
          </a:xfrm>
        </p:spPr>
        <p:txBody>
          <a:bodyPr>
            <a:normAutofit fontScale="40000"/>
          </a:bodyPr>
          <a:lstStyle/>
          <a:p>
            <a:pPr algn="l"/>
            <a:r>
              <a:rPr lang="en-US" sz="4000" b="1" dirty="0">
                <a:solidFill>
                  <a:schemeClr val="tx1"/>
                </a:solidFill>
                <a:latin typeface="Arial" panose="020B0604020202020204" pitchFamily="34" charset="0"/>
                <a:cs typeface="Arial" panose="020B0604020202020204" pitchFamily="34" charset="0"/>
              </a:rPr>
              <a:t>TEAM MEMBERS</a:t>
            </a:r>
            <a:r>
              <a:rPr lang="en-US" sz="4000" dirty="0">
                <a:solidFill>
                  <a:schemeClr val="tx1"/>
                </a:solidFill>
                <a:latin typeface="Arial" panose="020B0604020202020204" pitchFamily="34" charset="0"/>
                <a:cs typeface="Arial" panose="020B0604020202020204" pitchFamily="34" charset="0"/>
              </a:rPr>
              <a:t>:</a:t>
            </a:r>
            <a:r>
              <a:rPr lang="en-IN" altLang="en-US" sz="4000" dirty="0">
                <a:solidFill>
                  <a:schemeClr val="tx1"/>
                </a:solidFill>
                <a:latin typeface="Arial" panose="020B0604020202020204" pitchFamily="34" charset="0"/>
                <a:cs typeface="Arial" panose="020B0604020202020204" pitchFamily="34" charset="0"/>
              </a:rPr>
              <a:t> 1. ROJA S (620822205089)</a:t>
            </a:r>
            <a:endParaRPr lang="en-IN" altLang="en-US" sz="4000" dirty="0">
              <a:solidFill>
                <a:schemeClr val="tx1"/>
              </a:solidFill>
              <a:latin typeface="Arial" panose="020B0604020202020204" pitchFamily="34" charset="0"/>
              <a:cs typeface="Arial" panose="020B0604020202020204" pitchFamily="34" charset="0"/>
            </a:endParaRPr>
          </a:p>
          <a:p>
            <a:pPr algn="l"/>
            <a:r>
              <a:rPr lang="en-IN" altLang="en-US" sz="4000" dirty="0">
                <a:solidFill>
                  <a:schemeClr val="tx1"/>
                </a:solidFill>
                <a:latin typeface="Arial" panose="020B0604020202020204" pitchFamily="34" charset="0"/>
                <a:cs typeface="Arial" panose="020B0604020202020204" pitchFamily="34" charset="0"/>
              </a:rPr>
              <a:t>                          </a:t>
            </a:r>
            <a:r>
              <a:rPr lang="en-US" altLang="en-IN"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2. SWETHA S </a:t>
            </a:r>
            <a:r>
              <a:rPr lang="en-IN" altLang="en-US" sz="4000" dirty="0">
                <a:solidFill>
                  <a:schemeClr val="tx1"/>
                </a:solidFill>
                <a:latin typeface="Arial" panose="020B0604020202020204" pitchFamily="34" charset="0"/>
                <a:cs typeface="Arial" panose="020B0604020202020204" pitchFamily="34" charset="0"/>
                <a:sym typeface="+mn-ea"/>
              </a:rPr>
              <a:t>(620822205112)</a:t>
            </a:r>
            <a:endParaRPr lang="en-IN" altLang="en-US" sz="4000" dirty="0">
              <a:solidFill>
                <a:schemeClr val="tx1"/>
              </a:solidFill>
              <a:latin typeface="Arial" panose="020B0604020202020204" pitchFamily="34" charset="0"/>
              <a:cs typeface="Arial" panose="020B0604020202020204" pitchFamily="34" charset="0"/>
            </a:endParaRPr>
          </a:p>
          <a:p>
            <a:pPr algn="l"/>
            <a:r>
              <a:rPr lang="en-IN" altLang="en-US" sz="4000" dirty="0">
                <a:solidFill>
                  <a:schemeClr val="tx1"/>
                </a:solidFill>
                <a:latin typeface="Arial" panose="020B0604020202020204" pitchFamily="34" charset="0"/>
                <a:cs typeface="Arial" panose="020B0604020202020204" pitchFamily="34" charset="0"/>
              </a:rPr>
              <a:t>                          </a:t>
            </a:r>
            <a:r>
              <a:rPr lang="en-US" altLang="en-IN"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3. SARANYA M </a:t>
            </a:r>
            <a:r>
              <a:rPr lang="en-IN" altLang="en-US" sz="4000" dirty="0">
                <a:solidFill>
                  <a:schemeClr val="tx1"/>
                </a:solidFill>
                <a:latin typeface="Arial" panose="020B0604020202020204" pitchFamily="34" charset="0"/>
                <a:cs typeface="Arial" panose="020B0604020202020204" pitchFamily="34" charset="0"/>
                <a:sym typeface="+mn-ea"/>
              </a:rPr>
              <a:t>(620822205095)</a:t>
            </a:r>
            <a:endParaRPr lang="en-IN" altLang="en-US" sz="4000" dirty="0">
              <a:solidFill>
                <a:schemeClr val="tx1"/>
              </a:solidFill>
              <a:latin typeface="Arial" panose="020B0604020202020204" pitchFamily="34" charset="0"/>
              <a:cs typeface="Arial" panose="020B0604020202020204" pitchFamily="34" charset="0"/>
            </a:endParaRPr>
          </a:p>
          <a:p>
            <a:pPr algn="l"/>
            <a:r>
              <a:rPr lang="en-IN" altLang="en-US" sz="4000" dirty="0">
                <a:solidFill>
                  <a:schemeClr val="tx1"/>
                </a:solidFill>
                <a:latin typeface="Arial" panose="020B0604020202020204" pitchFamily="34" charset="0"/>
                <a:cs typeface="Arial" panose="020B0604020202020204" pitchFamily="34" charset="0"/>
              </a:rPr>
              <a:t>                          </a:t>
            </a:r>
            <a:r>
              <a:rPr lang="en-US" altLang="en-IN"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4. SHARMILA K </a:t>
            </a:r>
            <a:r>
              <a:rPr lang="en-IN" altLang="en-US" sz="4000" dirty="0">
                <a:solidFill>
                  <a:schemeClr val="tx1"/>
                </a:solidFill>
                <a:latin typeface="Arial" panose="020B0604020202020204" pitchFamily="34" charset="0"/>
                <a:cs typeface="Arial" panose="020B0604020202020204" pitchFamily="34" charset="0"/>
                <a:sym typeface="+mn-ea"/>
              </a:rPr>
              <a:t>(620822205099)</a:t>
            </a:r>
            <a:endParaRPr lang="en-US" sz="4000" dirty="0">
              <a:solidFill>
                <a:schemeClr val="tx1"/>
              </a:solidFill>
              <a:latin typeface="Arial" panose="020B0604020202020204" pitchFamily="34" charset="0"/>
              <a:cs typeface="Arial" panose="020B0604020202020204" pitchFamily="34" charset="0"/>
            </a:endParaRPr>
          </a:p>
          <a:p>
            <a:pPr algn="l"/>
            <a:r>
              <a:rPr lang="en-US" sz="4000" dirty="0">
                <a:solidFill>
                  <a:schemeClr val="tx1"/>
                </a:solidFill>
                <a:latin typeface="Arial" panose="020B0604020202020204" pitchFamily="34" charset="0"/>
                <a:cs typeface="Arial" panose="020B0604020202020204" pitchFamily="34" charset="0"/>
              </a:rPr>
              <a:t> </a:t>
            </a:r>
            <a:endParaRPr lang="en-US" sz="4000" dirty="0">
              <a:solidFill>
                <a:schemeClr val="tx1"/>
              </a:solidFill>
              <a:latin typeface="Arial" panose="020B0604020202020204" pitchFamily="34" charset="0"/>
              <a:cs typeface="Arial" panose="020B0604020202020204" pitchFamily="34" charset="0"/>
            </a:endParaRPr>
          </a:p>
          <a:p>
            <a:pPr algn="l"/>
            <a:r>
              <a:rPr lang="en-US" sz="4000" b="1" dirty="0">
                <a:solidFill>
                  <a:schemeClr val="tx1"/>
                </a:solidFill>
                <a:latin typeface="Arial" panose="020B0604020202020204" pitchFamily="34" charset="0"/>
                <a:cs typeface="Arial" panose="020B0604020202020204" pitchFamily="34" charset="0"/>
              </a:rPr>
              <a:t>GUIDE</a:t>
            </a:r>
            <a:r>
              <a:rPr lang="en-US"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 </a:t>
            </a:r>
            <a:r>
              <a:rPr lang="en-US" sz="4000" dirty="0" smtClean="0">
                <a:solidFill>
                  <a:schemeClr val="tx1"/>
                </a:solidFill>
                <a:latin typeface="Arial" panose="020B0604020202020204" pitchFamily="34" charset="0"/>
                <a:cs typeface="Arial" panose="020B0604020202020204" pitchFamily="34" charset="0"/>
                <a:sym typeface="+mn-ea"/>
              </a:rPr>
              <a:t>Mrs.S.S</a:t>
            </a:r>
            <a:r>
              <a:rPr lang="en-IN" altLang="en-US" sz="4000" dirty="0" smtClean="0">
                <a:solidFill>
                  <a:schemeClr val="tx1"/>
                </a:solidFill>
                <a:latin typeface="Arial" panose="020B0604020202020204" pitchFamily="34" charset="0"/>
                <a:cs typeface="Arial" panose="020B0604020202020204" pitchFamily="34" charset="0"/>
                <a:sym typeface="+mn-ea"/>
              </a:rPr>
              <a:t>ARANYA</a:t>
            </a:r>
            <a:r>
              <a:rPr lang="en-US" sz="4000" dirty="0" smtClean="0">
                <a:solidFill>
                  <a:schemeClr val="tx1"/>
                </a:solidFill>
                <a:latin typeface="Arial" panose="020B0604020202020204" pitchFamily="34" charset="0"/>
                <a:cs typeface="Arial" panose="020B0604020202020204" pitchFamily="34" charset="0"/>
                <a:sym typeface="+mn-ea"/>
              </a:rPr>
              <a:t>,</a:t>
            </a:r>
            <a:r>
              <a:rPr lang="en-IN" altLang="en-US" sz="4000" dirty="0" smtClean="0">
                <a:solidFill>
                  <a:schemeClr val="tx1"/>
                </a:solidFill>
                <a:latin typeface="Arial" panose="020B0604020202020204" pitchFamily="34" charset="0"/>
                <a:cs typeface="Arial" panose="020B0604020202020204" pitchFamily="34" charset="0"/>
                <a:sym typeface="+mn-ea"/>
              </a:rPr>
              <a:t>AP</a:t>
            </a:r>
            <a:r>
              <a:rPr lang="en-US" sz="4000" dirty="0" smtClean="0">
                <a:solidFill>
                  <a:schemeClr val="tx1"/>
                </a:solidFill>
                <a:latin typeface="Arial" panose="020B0604020202020204" pitchFamily="34" charset="0"/>
                <a:cs typeface="Arial" panose="020B0604020202020204" pitchFamily="34" charset="0"/>
                <a:sym typeface="+mn-ea"/>
              </a:rPr>
              <a:t>/IT</a:t>
            </a:r>
            <a:endParaRPr lang="en-US" sz="4000" dirty="0" smtClean="0">
              <a:solidFill>
                <a:schemeClr val="tx1"/>
              </a:solidFill>
              <a:latin typeface="Arial" panose="020B0604020202020204" pitchFamily="34" charset="0"/>
              <a:cs typeface="Arial" panose="020B0604020202020204" pitchFamily="34" charset="0"/>
            </a:endParaRPr>
          </a:p>
          <a:p>
            <a:pPr algn="l"/>
            <a:r>
              <a:rPr lang="en-IN" altLang="en-US" sz="4000" dirty="0" smtClean="0">
                <a:solidFill>
                  <a:schemeClr val="tx1"/>
                </a:solidFill>
                <a:latin typeface="Arial" panose="020B0604020202020204" pitchFamily="34" charset="0"/>
                <a:cs typeface="Arial" panose="020B0604020202020204" pitchFamily="34" charset="0"/>
                <a:sym typeface="+mn-ea"/>
              </a:rPr>
              <a:t>GNANAMANI COLLEGE OF TECHNOLOGY.</a:t>
            </a:r>
            <a:r>
              <a:rPr lang="en-US" sz="4000" dirty="0" smtClean="0">
                <a:solidFill>
                  <a:schemeClr val="tx1"/>
                </a:solidFill>
                <a:latin typeface="Arial" panose="020B0604020202020204" pitchFamily="34" charset="0"/>
                <a:cs typeface="Arial" panose="020B0604020202020204" pitchFamily="34" charset="0"/>
                <a:sym typeface="+mn-ea"/>
              </a:rPr>
              <a:t> </a:t>
            </a:r>
            <a:endParaRPr lang="en-US" sz="4000" dirty="0">
              <a:solidFill>
                <a:schemeClr val="tx1"/>
              </a:solidFill>
              <a:latin typeface="Arial" panose="020B0604020202020204" pitchFamily="34" charset="0"/>
              <a:cs typeface="Arial" panose="020B0604020202020204" pitchFamily="34" charset="0"/>
            </a:endParaRPr>
          </a:p>
          <a:p>
            <a:pPr algn="l"/>
            <a:r>
              <a:rPr lang="en-US" sz="2000" dirty="0">
                <a:solidFill>
                  <a:schemeClr val="tx1"/>
                </a:solidFill>
              </a:rPr>
              <a:t> </a:t>
            </a:r>
            <a:r>
              <a:rPr lang="en-US" dirty="0">
                <a:solidFill>
                  <a:schemeClr val="tx1"/>
                </a:solidFill>
              </a:rPr>
              <a:t>   </a:t>
            </a:r>
            <a:endParaRPr lang="en-US" dirty="0">
              <a:solidFill>
                <a:schemeClr val="tx1"/>
              </a:solidFill>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IN" b="1" dirty="0">
                <a:solidFill>
                  <a:schemeClr val="tx1"/>
                </a:solidFill>
              </a:rPr>
              <a:t>Problem Statement</a:t>
            </a:r>
            <a:endParaRPr lang="en-IN" b="1" dirty="0">
              <a:solidFill>
                <a:schemeClr val="tx1"/>
              </a:solidFill>
            </a:endParaRPr>
          </a:p>
        </p:txBody>
      </p:sp>
      <p:sp>
        <p:nvSpPr>
          <p:cNvPr id="3" name="Content Placeholder 2"/>
          <p:cNvSpPr>
            <a:spLocks noGrp="1"/>
          </p:cNvSpPr>
          <p:nvPr>
            <p:ph idx="1"/>
          </p:nvPr>
        </p:nvSpPr>
        <p:spPr>
          <a:xfrm>
            <a:off x="677545" y="1545590"/>
            <a:ext cx="9020810" cy="4495800"/>
          </a:xfrm>
        </p:spPr>
        <p:txBody>
          <a:bodyPr>
            <a:normAutofit/>
          </a:bodyPr>
          <a:lstStyle/>
          <a:p>
            <a:pPr>
              <a:lnSpc>
                <a:spcPct val="80000"/>
              </a:lnSpc>
            </a:pPr>
            <a:r>
              <a:rPr lang="en-US" altLang="en-US" sz="2000" dirty="0" smtClean="0">
                <a:solidFill>
                  <a:schemeClr val="tx1">
                    <a:lumMod val="95000"/>
                    <a:lumOff val="5000"/>
                  </a:schemeClr>
                </a:solidFill>
                <a:latin typeface="Arial" panose="020B0604020202020204" pitchFamily="34" charset="0"/>
                <a:cs typeface="Arial" panose="020B0604020202020204" pitchFamily="34" charset="0"/>
                <a:sym typeface="+mn-ea"/>
              </a:rPr>
              <a:t>Exploring the dark web manually is time-consuming and risky. </a:t>
            </a: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smtClean="0">
                <a:solidFill>
                  <a:schemeClr val="tx1">
                    <a:lumMod val="95000"/>
                    <a:lumOff val="5000"/>
                  </a:schemeClr>
                </a:solidFill>
                <a:latin typeface="Arial" panose="020B0604020202020204" pitchFamily="34" charset="0"/>
                <a:cs typeface="Arial" panose="020B0604020202020204" pitchFamily="34" charset="0"/>
                <a:sym typeface="+mn-ea"/>
              </a:rPr>
              <a:t>Hidden links and anonymous sites make navigation difficult. </a:t>
            </a: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smtClean="0">
                <a:solidFill>
                  <a:schemeClr val="tx1">
                    <a:lumMod val="95000"/>
                    <a:lumOff val="5000"/>
                  </a:schemeClr>
                </a:solidFill>
                <a:latin typeface="Arial" panose="020B0604020202020204" pitchFamily="34" charset="0"/>
                <a:cs typeface="Arial" panose="020B0604020202020204" pitchFamily="34" charset="0"/>
                <a:sym typeface="+mn-ea"/>
              </a:rPr>
              <a:t>Traditional web crawlers cannot access Tor-based dark web sites. </a:t>
            </a: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smtClean="0">
                <a:solidFill>
                  <a:schemeClr val="tx1">
                    <a:lumMod val="95000"/>
                    <a:lumOff val="5000"/>
                  </a:schemeClr>
                </a:solidFill>
                <a:latin typeface="Arial" panose="020B0604020202020204" pitchFamily="34" charset="0"/>
                <a:cs typeface="Arial" panose="020B0604020202020204" pitchFamily="34" charset="0"/>
                <a:sym typeface="+mn-ea"/>
              </a:rPr>
              <a:t>Extracting relevant information manually is inefficient and prone to errors. </a:t>
            </a: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smtClean="0">
                <a:solidFill>
                  <a:schemeClr val="tx1">
                    <a:lumMod val="95000"/>
                    <a:lumOff val="5000"/>
                  </a:schemeClr>
                </a:solidFill>
                <a:latin typeface="Arial" panose="020B0604020202020204" pitchFamily="34" charset="0"/>
                <a:cs typeface="Arial" panose="020B0604020202020204" pitchFamily="34" charset="0"/>
                <a:sym typeface="+mn-ea"/>
              </a:rPr>
              <a:t>Security and privacy concerns make dark web data collection challenging</a:t>
            </a: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smtClean="0">
                <a:solidFill>
                  <a:schemeClr val="tx1">
                    <a:lumMod val="95000"/>
                    <a:lumOff val="5000"/>
                  </a:schemeClr>
                </a:solidFill>
                <a:latin typeface="Arial" panose="020B0604020202020204" pitchFamily="34" charset="0"/>
                <a:cs typeface="Arial" panose="020B0604020202020204" pitchFamily="34" charset="0"/>
                <a:sym typeface="+mn-ea"/>
              </a:rPr>
              <a:t>There is a lack of systematic analysis of existing crawler and scraper architectures</a:t>
            </a: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a:buNone/>
            </a:pPr>
            <a:endParaRPr lang="en-US" altLang="en-US" sz="2000" dirty="0" smtClean="0">
              <a:solidFill>
                <a:schemeClr val="tx1">
                  <a:lumMod val="95000"/>
                  <a:lumOff val="5000"/>
                </a:schemeClr>
              </a:solidFill>
              <a:latin typeface="Arial" panose="020B0604020202020204" pitchFamily="34" charset="0"/>
              <a:cs typeface="Arial" panose="020B0604020202020204" pitchFamily="34" charset="0"/>
            </a:endParaRPr>
          </a:p>
          <a:p>
            <a:pPr marL="0" indent="0">
              <a:buNone/>
            </a:pPr>
            <a:endParaRPr lang="en-IN"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rPr>
              <a:t>Objective</a:t>
            </a:r>
            <a:endParaRPr lang="en-IN" b="1" dirty="0">
              <a:solidFill>
                <a:schemeClr val="tx1"/>
              </a:solidFill>
            </a:endParaRPr>
          </a:p>
        </p:txBody>
      </p:sp>
      <p:sp>
        <p:nvSpPr>
          <p:cNvPr id="4" name="Content Placeholder 3"/>
          <p:cNvSpPr>
            <a:spLocks noGrp="1"/>
          </p:cNvSpPr>
          <p:nvPr>
            <p:ph idx="1"/>
          </p:nvPr>
        </p:nvSpPr>
        <p:spPr>
          <a:xfrm>
            <a:off x="677545" y="1420495"/>
            <a:ext cx="8596630" cy="4620895"/>
          </a:xfrm>
        </p:spPr>
        <p:txBody>
          <a:bodyPr>
            <a:noAutofit/>
          </a:bodyPr>
          <a:lstStyle/>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design a dark web crawler capable of navigating Tor network safely. </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implement a scraper module that efficiently extracts relevant data. </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analyze and filter the collected data for meaningful insights.</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evaluate existing crawler and scraper architectures for performance</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address challenges like anonymity, security, and ethical issues</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provide a systematic overview for future dark web research</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a:solidFill>
                <a:schemeClr val="tx1">
                  <a:lumMod val="95000"/>
                  <a:lumOff val="5000"/>
                </a:schemeClr>
              </a:solidFill>
              <a:latin typeface="Arial" panose="020B0604020202020204" pitchFamily="34" charset="0"/>
              <a:cs typeface="Arial" panose="020B0604020202020204" pitchFamily="34" charset="0"/>
            </a:endParaRPr>
          </a:p>
        </p:txBody>
      </p:sp>
      <p:sp>
        <p:nvSpPr>
          <p:cNvPr id="8" name="Text Box 7"/>
          <p:cNvSpPr txBox="1"/>
          <p:nvPr/>
        </p:nvSpPr>
        <p:spPr>
          <a:xfrm>
            <a:off x="10155555" y="4956810"/>
            <a:ext cx="4064000" cy="368300"/>
          </a:xfrm>
          <a:prstGeom prst="rect">
            <a:avLst/>
          </a:prstGeom>
          <a:noFill/>
        </p:spPr>
        <p:txBody>
          <a:bodyPr wrap="square" rtlCol="0">
            <a:spAutoFit/>
          </a:bodyPr>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468" y="0"/>
            <a:ext cx="8256200" cy="1320800"/>
          </a:xfrm>
        </p:spPr>
        <p:txBody>
          <a:bodyPr/>
          <a:lstStyle/>
          <a:p>
            <a:r>
              <a:rPr lang="en-US" b="1" dirty="0">
                <a:solidFill>
                  <a:schemeClr val="tx1"/>
                </a:solidFill>
              </a:rPr>
              <a:t>Existing System</a:t>
            </a:r>
            <a:endParaRPr lang="en-IN" dirty="0">
              <a:solidFill>
                <a:schemeClr val="tx1"/>
              </a:solidFill>
            </a:endParaRPr>
          </a:p>
        </p:txBody>
      </p:sp>
      <p:sp>
        <p:nvSpPr>
          <p:cNvPr id="3" name="Content Placeholder 2"/>
          <p:cNvSpPr>
            <a:spLocks noGrp="1"/>
          </p:cNvSpPr>
          <p:nvPr>
            <p:ph idx="1"/>
          </p:nvPr>
        </p:nvSpPr>
        <p:spPr>
          <a:xfrm>
            <a:off x="749935" y="682625"/>
            <a:ext cx="8961120" cy="2745740"/>
          </a:xfrm>
        </p:spPr>
        <p:txBody>
          <a:bodyPr>
            <a:noAutofit/>
          </a:bodyPr>
          <a:lstStyle/>
          <a:p>
            <a:pPr marL="0" indent="0" algn="just">
              <a:lnSpc>
                <a:spcPct val="150000"/>
              </a:lnSpc>
              <a:buClr>
                <a:schemeClr val="tx1"/>
              </a:buClr>
              <a:buNone/>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Current web crawlers are mainly designed to explore the surface web and cannot access dark web content that runs on the Tor network. Manual exploration of the dark web is risky, time-consuming, and unsafe. Most existing scrapers are not built to handle anonymous or hidden websites, making data extraction difficult. Collecting information from the dark web also requires stronger security measures, which many systems lack.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marL="0" indent="0" algn="just">
              <a:lnSpc>
                <a:spcPct val="150000"/>
              </a:lnSpc>
              <a:buClr>
                <a:schemeClr val="tx1"/>
              </a:buClr>
              <a:buNone/>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4" name="Rectangle 3"/>
          <p:cNvSpPr/>
          <p:nvPr/>
        </p:nvSpPr>
        <p:spPr>
          <a:xfrm>
            <a:off x="379379" y="3570052"/>
            <a:ext cx="3501958" cy="646331"/>
          </a:xfrm>
          <a:prstGeom prst="rect">
            <a:avLst/>
          </a:prstGeom>
        </p:spPr>
        <p:txBody>
          <a:bodyPr wrap="square">
            <a:spAutoFit/>
          </a:bodyPr>
          <a:lstStyle/>
          <a:p>
            <a:r>
              <a:rPr lang="en-US" sz="3600" b="1" dirty="0"/>
              <a:t>Disadvantage</a:t>
            </a:r>
            <a:endParaRPr lang="en-US" sz="3600" dirty="0"/>
          </a:p>
        </p:txBody>
      </p:sp>
      <p:sp>
        <p:nvSpPr>
          <p:cNvPr id="5" name="Text Box 4"/>
          <p:cNvSpPr txBox="1"/>
          <p:nvPr/>
        </p:nvSpPr>
        <p:spPr>
          <a:xfrm>
            <a:off x="750570" y="4216400"/>
            <a:ext cx="9419590" cy="2317115"/>
          </a:xfrm>
          <a:prstGeom prst="rect">
            <a:avLst/>
          </a:prstGeom>
          <a:noFill/>
        </p:spPr>
        <p:txBody>
          <a:bodyPr wrap="square" rtlCol="0">
            <a:noAutofit/>
          </a:bodyPr>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Manual dark web exploration is slow, risky, and inefficient. ️</a:t>
            </a:r>
            <a:endParaRPr lang="en-US" altLang="en-US" sz="2000">
              <a:latin typeface="Arial" panose="020B0604020202020204" pitchFamily="34" charset="0"/>
              <a:cs typeface="Arial" panose="020B0604020202020204" pitchFamily="34" charset="0"/>
            </a:endParaRPr>
          </a:p>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Normal crawlers cannot access Tor-based hidden websites. </a:t>
            </a:r>
            <a:endParaRPr lang="en-US" altLang="en-US" sz="2000">
              <a:latin typeface="Arial" panose="020B0604020202020204" pitchFamily="34" charset="0"/>
              <a:cs typeface="Arial" panose="020B0604020202020204" pitchFamily="34" charset="0"/>
            </a:endParaRPr>
          </a:p>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Existing scrapers struggle with encrypted or dynamic content. </a:t>
            </a:r>
            <a:endParaRPr lang="zh-CN" altLang="en-US" sz="2000">
              <a:latin typeface="Arial" panose="020B0604020202020204" pitchFamily="34" charset="0"/>
              <a:cs typeface="Arial" panose="020B0604020202020204" pitchFamily="34" charset="0"/>
            </a:endParaRPr>
          </a:p>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Ethical, legal, and large data handling issues reduce effectiveness. </a:t>
            </a:r>
            <a:endParaRPr lang="zh-CN" altLang="en-US" sz="2000">
              <a:latin typeface="Arial" panose="020B0604020202020204" pitchFamily="34" charset="0"/>
              <a:cs typeface="Arial" panose="020B0604020202020204" pitchFamily="34" charset="0"/>
            </a:endParaRPr>
          </a:p>
          <a:p>
            <a:endParaRPr 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9" y="156238"/>
            <a:ext cx="8596668" cy="1320800"/>
          </a:xfrm>
        </p:spPr>
        <p:txBody>
          <a:bodyPr/>
          <a:lstStyle/>
          <a:p>
            <a:r>
              <a:rPr lang="en-US" b="1" dirty="0">
                <a:solidFill>
                  <a:schemeClr val="tx1"/>
                </a:solidFill>
              </a:rPr>
              <a:t> Proposed System :</a:t>
            </a:r>
            <a:endParaRPr lang="en-IN" dirty="0">
              <a:solidFill>
                <a:schemeClr val="tx1"/>
              </a:solidFill>
            </a:endParaRPr>
          </a:p>
        </p:txBody>
      </p:sp>
      <p:sp>
        <p:nvSpPr>
          <p:cNvPr id="3" name="Content Placeholder 2"/>
          <p:cNvSpPr>
            <a:spLocks noGrp="1"/>
          </p:cNvSpPr>
          <p:nvPr>
            <p:ph idx="1"/>
          </p:nvPr>
        </p:nvSpPr>
        <p:spPr>
          <a:xfrm>
            <a:off x="791845" y="798195"/>
            <a:ext cx="10165080" cy="2919095"/>
          </a:xfrm>
        </p:spPr>
        <p:txBody>
          <a:bodyPr>
            <a:noAutofit/>
          </a:bodyPr>
          <a:lstStyle/>
          <a:p>
            <a:pPr marL="0" indent="0" algn="just">
              <a:lnSpc>
                <a:spcPct val="150000"/>
              </a:lnSpc>
              <a:buClr>
                <a:schemeClr val="tx1"/>
              </a:buClr>
              <a:buNone/>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The proposed system develops a secure dark web crawler that can safely navigate the Tor network. It includes an automated scraper module to efficiently extract relevant information from dark web pages. A data analysis layer is added to filter, organize, and process the collected data, while encrypted storage ensures that all information is stored securely. The system also incorporates ethical and legal controls to promote responsible crawling.</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marL="0" indent="0" algn="just">
              <a:lnSpc>
                <a:spcPct val="150000"/>
              </a:lnSpc>
              <a:buClr>
                <a:schemeClr val="tx1"/>
              </a:buClr>
              <a:buNone/>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5" name="Rectangle 4"/>
          <p:cNvSpPr/>
          <p:nvPr/>
        </p:nvSpPr>
        <p:spPr>
          <a:xfrm>
            <a:off x="184826" y="3560323"/>
            <a:ext cx="3122578" cy="645160"/>
          </a:xfrm>
          <a:prstGeom prst="rect">
            <a:avLst/>
          </a:prstGeom>
        </p:spPr>
        <p:txBody>
          <a:bodyPr wrap="square">
            <a:spAutoFit/>
          </a:bodyPr>
          <a:lstStyle/>
          <a:p>
            <a:r>
              <a:rPr lang="en-US" sz="3600" b="1" dirty="0"/>
              <a:t>Advantage </a:t>
            </a:r>
            <a:r>
              <a:rPr lang="en-IN" altLang="en-US" sz="3600" b="1" dirty="0"/>
              <a:t>:</a:t>
            </a:r>
            <a:endParaRPr lang="en-IN" altLang="en-US" sz="3600" b="1" dirty="0"/>
          </a:p>
        </p:txBody>
      </p:sp>
      <p:sp>
        <p:nvSpPr>
          <p:cNvPr id="4" name="Text Box 3"/>
          <p:cNvSpPr txBox="1"/>
          <p:nvPr/>
        </p:nvSpPr>
        <p:spPr>
          <a:xfrm>
            <a:off x="791210" y="4334510"/>
            <a:ext cx="8952865" cy="1989455"/>
          </a:xfrm>
          <a:prstGeom prst="rect">
            <a:avLst/>
          </a:prstGeom>
          <a:noFill/>
        </p:spPr>
        <p:txBody>
          <a:bodyPr wrap="square" rtlCol="0">
            <a:noAutofit/>
          </a:bodyPr>
          <a:p>
            <a:pPr marL="1257300" lvl="2" indent="-342900">
              <a:buFont typeface="Arial" panose="020B0604020202020204" pitchFamily="34" charset="0"/>
              <a:buChar char="•"/>
            </a:pPr>
            <a:r>
              <a:rPr lang="en-US" altLang="en-US" sz="2000" dirty="0" smtClean="0">
                <a:latin typeface="Arial" panose="020B0604020202020204" pitchFamily="34" charset="0"/>
                <a:cs typeface="Arial" panose="020B0604020202020204" pitchFamily="34" charset="0"/>
                <a:sym typeface="+mn-ea"/>
              </a:rPr>
              <a:t>Automated crawling saves time and improves speed and accuracy.</a:t>
            </a:r>
            <a:endParaRPr lang="en-US" altLang="en-US" sz="2000" dirty="0" smtClean="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endParaRPr lang="en-US" altLang="en-US" sz="2000" dirty="0" smtClean="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r>
              <a:rPr lang="en-US" altLang="en-US" sz="2000" dirty="0" smtClean="0">
                <a:latin typeface="Arial" panose="020B0604020202020204" pitchFamily="34" charset="0"/>
                <a:cs typeface="Arial" panose="020B0604020202020204" pitchFamily="34" charset="0"/>
                <a:sym typeface="+mn-ea"/>
              </a:rPr>
              <a:t>Can safely access Tor-based dark web content.</a:t>
            </a:r>
            <a:endParaRPr lang="en-US" altLang="en-US" sz="2000" dirty="0" smtClean="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endParaRPr lang="en-US" altLang="en-US" sz="2000" dirty="0" smtClean="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r>
              <a:rPr lang="en-US" altLang="en-US" sz="2000" dirty="0" smtClean="0">
                <a:latin typeface="Arial" panose="020B0604020202020204" pitchFamily="34" charset="0"/>
                <a:cs typeface="Arial" panose="020B0604020202020204" pitchFamily="34" charset="0"/>
                <a:sym typeface="+mn-ea"/>
              </a:rPr>
              <a:t>Secure storage and organized data improve reliability.</a:t>
            </a:r>
            <a:endParaRPr lang="en-US" altLang="en-US" sz="2000" dirty="0" smtClean="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endParaRPr lang="en-US" altLang="en-US" sz="2000" dirty="0" smtClean="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r>
              <a:rPr lang="en-US" altLang="en-US" sz="2000" dirty="0" smtClean="0">
                <a:latin typeface="Arial" panose="020B0604020202020204" pitchFamily="34" charset="0"/>
                <a:cs typeface="Arial" panose="020B0604020202020204" pitchFamily="34" charset="0"/>
                <a:sym typeface="+mn-ea"/>
              </a:rPr>
              <a:t>Ethical controls and scalable design support responsible research.</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079" y="609600"/>
            <a:ext cx="8841923" cy="1320800"/>
          </a:xfrm>
        </p:spPr>
        <p:txBody>
          <a:bodyPr/>
          <a:lstStyle/>
          <a:p>
            <a:r>
              <a:rPr lang="en-IN" b="1" dirty="0">
                <a:solidFill>
                  <a:schemeClr val="tx1"/>
                </a:solidFill>
              </a:rPr>
              <a:t>SYSTEM ARCHITECTURE/FLOW DIAGRAM</a:t>
            </a:r>
            <a:endParaRPr lang="en-IN" b="1" dirty="0">
              <a:solidFill>
                <a:schemeClr val="tx1"/>
              </a:solidFill>
            </a:endParaRPr>
          </a:p>
        </p:txBody>
      </p:sp>
      <p:pic>
        <p:nvPicPr>
          <p:cNvPr id="7" name="Content Placeholder 6" descr="WhatsApp Image 2026-02-06 at 1.28.45 PM"/>
          <p:cNvPicPr>
            <a:picLocks noChangeAspect="1"/>
          </p:cNvPicPr>
          <p:nvPr>
            <p:ph idx="1"/>
          </p:nvPr>
        </p:nvPicPr>
        <p:blipFill>
          <a:blip r:embed="rId1"/>
          <a:stretch>
            <a:fillRect/>
          </a:stretch>
        </p:blipFill>
        <p:spPr>
          <a:xfrm>
            <a:off x="1722755" y="1650365"/>
            <a:ext cx="7392035" cy="4602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9" y="156238"/>
            <a:ext cx="8596668" cy="1320800"/>
          </a:xfrm>
        </p:spPr>
        <p:txBody>
          <a:bodyPr/>
          <a:lstStyle/>
          <a:p>
            <a:r>
              <a:rPr lang="en-US" b="1" dirty="0">
                <a:solidFill>
                  <a:schemeClr val="tx1"/>
                </a:solidFill>
              </a:rPr>
              <a:t> </a:t>
            </a:r>
            <a:endParaRPr lang="en-IN" dirty="0">
              <a:solidFill>
                <a:schemeClr val="tx1"/>
              </a:solidFill>
            </a:endParaRPr>
          </a:p>
        </p:txBody>
      </p:sp>
      <p:sp>
        <p:nvSpPr>
          <p:cNvPr id="3" name="Content Placeholder 2"/>
          <p:cNvSpPr>
            <a:spLocks noGrp="1"/>
          </p:cNvSpPr>
          <p:nvPr>
            <p:ph idx="1"/>
          </p:nvPr>
        </p:nvSpPr>
        <p:spPr>
          <a:xfrm>
            <a:off x="274320" y="635"/>
            <a:ext cx="8588375" cy="826135"/>
          </a:xfrm>
        </p:spPr>
        <p:txBody>
          <a:bodyPr>
            <a:normAutofit fontScale="25000" lnSpcReduction="20000"/>
          </a:bodyPr>
          <a:lstStyle/>
          <a:p>
            <a:pPr algn="just">
              <a:lnSpc>
                <a:spcPct val="150000"/>
              </a:lnSpc>
              <a:buClr>
                <a:schemeClr val="tx1"/>
              </a:buClr>
              <a:buNone/>
            </a:pPr>
            <a:r>
              <a:rPr lang="en-IN" sz="14400" b="1" dirty="0">
                <a:solidFill>
                  <a:schemeClr val="tx1"/>
                </a:solidFill>
              </a:rPr>
              <a:t>Modules :</a:t>
            </a:r>
            <a:endParaRPr lang="en-US" sz="14400" dirty="0">
              <a:solidFill>
                <a:schemeClr val="tx1"/>
              </a:solidFill>
            </a:endParaRPr>
          </a:p>
          <a:p>
            <a:pPr algn="just">
              <a:lnSpc>
                <a:spcPct val="150000"/>
              </a:lnSpc>
              <a:buClr>
                <a:schemeClr val="tx1"/>
              </a:buClr>
              <a:buFont typeface="Wingdings" panose="05000000000000000000" pitchFamily="2" charset="2"/>
              <a:buChar char="q"/>
            </a:pPr>
            <a:endParaRPr lang="en-IN" dirty="0"/>
          </a:p>
        </p:txBody>
      </p:sp>
      <p:sp>
        <p:nvSpPr>
          <p:cNvPr id="5" name="Rectangle 4"/>
          <p:cNvSpPr/>
          <p:nvPr/>
        </p:nvSpPr>
        <p:spPr>
          <a:xfrm>
            <a:off x="275626" y="3599235"/>
            <a:ext cx="3031778" cy="646331"/>
          </a:xfrm>
          <a:prstGeom prst="rect">
            <a:avLst/>
          </a:prstGeom>
        </p:spPr>
        <p:txBody>
          <a:bodyPr wrap="square">
            <a:spAutoFit/>
          </a:bodyPr>
          <a:lstStyle/>
          <a:p>
            <a:r>
              <a:rPr lang="en-US" sz="3600" b="1" dirty="0"/>
              <a:t> </a:t>
            </a:r>
            <a:endParaRPr lang="en-US" sz="3600" dirty="0"/>
          </a:p>
        </p:txBody>
      </p:sp>
      <p:sp>
        <p:nvSpPr>
          <p:cNvPr id="6" name="Text Box 5"/>
          <p:cNvSpPr txBox="1"/>
          <p:nvPr/>
        </p:nvSpPr>
        <p:spPr>
          <a:xfrm>
            <a:off x="964565" y="948055"/>
            <a:ext cx="9002395" cy="5367020"/>
          </a:xfrm>
          <a:prstGeom prst="rect">
            <a:avLst/>
          </a:prstGeom>
          <a:noFill/>
        </p:spPr>
        <p:txBody>
          <a:bodyPr wrap="square" rtlCol="0">
            <a:noAutofit/>
          </a:bodyPr>
          <a:p>
            <a:r>
              <a:rPr lang="en-US" altLang="en-US" sz="2000" b="1"/>
              <a:t>M</a:t>
            </a:r>
            <a:r>
              <a:rPr lang="en-US" altLang="en-US" sz="2000" b="1">
                <a:latin typeface="Arial" panose="020B0604020202020204" pitchFamily="34" charset="0"/>
                <a:cs typeface="Arial" panose="020B0604020202020204" pitchFamily="34" charset="0"/>
              </a:rPr>
              <a:t>odule 1 – Crawler Module</a:t>
            </a:r>
            <a:endParaRPr lang="en-US" altLang="en-US" sz="2000" b="1">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Navigates dark web links safely using the Tor network.</a:t>
            </a:r>
            <a:endParaRPr lang="en-US" altLang="en-US" sz="2000">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2 – Scraper Module</a:t>
            </a:r>
            <a:endParaRPr lang="en-US" altLang="en-US" sz="2000" b="1">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Extracts relevant and structured data from crawled pages.</a:t>
            </a:r>
            <a:endParaRPr lang="en-US" altLang="en-US" sz="2000">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3 – Data Analysis Module</a:t>
            </a:r>
            <a:endParaRPr lang="en-US" altLang="en-US" sz="2000" b="1">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Filters, processes, and analyzes collected information using AI techniques.</a:t>
            </a:r>
            <a:endParaRPr lang="en-US" altLang="en-US" sz="2000">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4 – Storage &amp; Security Module</a:t>
            </a:r>
            <a:endParaRPr lang="en-US" altLang="en-US" sz="2000" b="1">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Stores data securely in encrypted databases with controlled access.</a:t>
            </a:r>
            <a:endParaRPr lang="en-US" altLang="en-US" sz="2000">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5 – Reporting &amp; Monitoring Module</a:t>
            </a:r>
            <a:endParaRPr lang="en-US" altLang="en-US" sz="2000" b="1">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Generates intelligence reports and monitors system performance.</a:t>
            </a:r>
            <a:endParaRPr lang="en-US" altLang="en-US" sz="200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120" y="185420"/>
            <a:ext cx="8334375" cy="793115"/>
          </a:xfrm>
        </p:spPr>
        <p:txBody>
          <a:bodyPr>
            <a:normAutofit fontScale="90000"/>
          </a:bodyPr>
          <a:lstStyle/>
          <a:p>
            <a:r>
              <a:rPr lang="en-US" altLang="en-US" b="1" dirty="0">
                <a:solidFill>
                  <a:schemeClr val="tx1"/>
                </a:solidFill>
              </a:rPr>
              <a:t>Module 1 – Crawler Module</a:t>
            </a:r>
            <a:br>
              <a:rPr lang="en-US" sz="2220" b="1" dirty="0">
                <a:solidFill>
                  <a:schemeClr val="tx1"/>
                </a:solidFill>
              </a:rPr>
            </a:br>
            <a:endParaRPr lang="en-IN" sz="2220" dirty="0">
              <a:solidFill>
                <a:schemeClr val="tx1"/>
              </a:solidFill>
            </a:endParaRPr>
          </a:p>
        </p:txBody>
      </p:sp>
      <p:sp>
        <p:nvSpPr>
          <p:cNvPr id="3" name="Content Placeholder 2"/>
          <p:cNvSpPr>
            <a:spLocks noGrp="1"/>
          </p:cNvSpPr>
          <p:nvPr>
            <p:ph idx="1"/>
          </p:nvPr>
        </p:nvSpPr>
        <p:spPr>
          <a:xfrm>
            <a:off x="749935" y="818515"/>
            <a:ext cx="10281285" cy="4857115"/>
          </a:xfrm>
        </p:spPr>
        <p:txBody>
          <a:bodyPr>
            <a:noAutofit/>
          </a:bodyPr>
          <a:lstStyle/>
          <a:p>
            <a:pPr marL="0" indent="0">
              <a:lnSpc>
                <a:spcPct val="60000"/>
              </a:lnSpc>
              <a:buNone/>
            </a:pPr>
            <a:r>
              <a:rPr lang="en-US" altLang="en-US" sz="2000" b="1" dirty="0">
                <a:latin typeface="Arial" panose="020B0604020202020204" pitchFamily="34" charset="0"/>
                <a:cs typeface="Arial" panose="020B0604020202020204" pitchFamily="34" charset="0"/>
              </a:rPr>
              <a:t>Purpose:</a:t>
            </a:r>
            <a:r>
              <a:rPr lang="en-US" altLang="en-US" sz="2000" dirty="0">
                <a:latin typeface="Arial" panose="020B0604020202020204" pitchFamily="34" charset="0"/>
                <a:cs typeface="Arial" panose="020B0604020202020204" pitchFamily="34" charset="0"/>
              </a:rPr>
              <a:t> Discover and securely access dark web (.onion) websites automatically.</a:t>
            </a:r>
            <a:endParaRPr lang="en-US" altLang="en-US" sz="2000" dirty="0">
              <a:latin typeface="Arial" panose="020B0604020202020204" pitchFamily="34" charset="0"/>
              <a:cs typeface="Arial" panose="020B0604020202020204" pitchFamily="34" charset="0"/>
            </a:endParaRPr>
          </a:p>
          <a:p>
            <a:pPr marL="0" indent="0">
              <a:lnSpc>
                <a:spcPct val="60000"/>
              </a:lnSpc>
              <a:buNone/>
            </a:pPr>
            <a:endParaRPr lang="en-US" altLang="en-US" sz="2000" dirty="0">
              <a:latin typeface="Arial" panose="020B0604020202020204" pitchFamily="34" charset="0"/>
              <a:cs typeface="Arial" panose="020B0604020202020204" pitchFamily="34" charset="0"/>
            </a:endParaRPr>
          </a:p>
          <a:p>
            <a:pPr marL="0" indent="0">
              <a:lnSpc>
                <a:spcPct val="60000"/>
              </a:lnSpc>
              <a:buNone/>
            </a:pPr>
            <a:r>
              <a:rPr lang="en-US" altLang="en-US" sz="2000" b="1" dirty="0">
                <a:latin typeface="Arial" panose="020B0604020202020204" pitchFamily="34" charset="0"/>
                <a:cs typeface="Arial" panose="020B0604020202020204" pitchFamily="34" charset="0"/>
              </a:rPr>
              <a:t>Key Responsibilities:</a:t>
            </a:r>
            <a:endParaRPr lang="en-US" altLang="en-US" sz="2000" b="1"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Establish secure connection using Tor network.</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Start crawling from predefined seed URLs.</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Discover new linked pages automatically.</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Avoid duplicate and invalid links.</a:t>
            </a:r>
            <a:endParaRPr lang="en-US" altLang="en-US" sz="2000" dirty="0">
              <a:latin typeface="Arial" panose="020B0604020202020204" pitchFamily="34" charset="0"/>
              <a:cs typeface="Arial" panose="020B0604020202020204" pitchFamily="34" charset="0"/>
            </a:endParaRPr>
          </a:p>
          <a:p>
            <a:pPr>
              <a:lnSpc>
                <a:spcPct val="60000"/>
              </a:lnSpc>
            </a:pPr>
            <a:endParaRPr lang="en-US" altLang="en-US" sz="2000" dirty="0">
              <a:latin typeface="Arial" panose="020B0604020202020204" pitchFamily="34" charset="0"/>
              <a:cs typeface="Arial" panose="020B0604020202020204" pitchFamily="34" charset="0"/>
            </a:endParaRPr>
          </a:p>
          <a:p>
            <a:pPr marL="0" indent="0">
              <a:lnSpc>
                <a:spcPct val="60000"/>
              </a:lnSpc>
              <a:buNone/>
            </a:pPr>
            <a:r>
              <a:rPr lang="en-US" altLang="en-US" sz="2000" b="1" dirty="0">
                <a:latin typeface="Arial" panose="020B0604020202020204" pitchFamily="34" charset="0"/>
                <a:cs typeface="Arial" panose="020B0604020202020204" pitchFamily="34" charset="0"/>
              </a:rPr>
              <a:t>Core Flows:</a:t>
            </a:r>
            <a:endParaRPr lang="en-US" altLang="en-US" sz="2000" b="1"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Initialize Tor connection and load seed URLs.</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Crawl links within defined depth limits.</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Store visited URLs to prevent repetition.</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Handle broken or inaccessible pages efficiently</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a:t>
            </a:r>
            <a:endParaRPr lang="en-US" altLang="en-US" sz="2000" dirty="0">
              <a:latin typeface="Arial" panose="020B0604020202020204" pitchFamily="34" charset="0"/>
              <a:cs typeface="Arial" panose="020B0604020202020204" pitchFamily="34" charset="0"/>
            </a:endParaRPr>
          </a:p>
          <a:p>
            <a:pPr marL="0" indent="0">
              <a:lnSpc>
                <a:spcPct val="60000"/>
              </a:lnSpc>
              <a:buNone/>
            </a:pPr>
            <a:r>
              <a:rPr lang="en-US" altLang="en-US" sz="2000" b="1" dirty="0">
                <a:latin typeface="Arial" panose="020B0604020202020204" pitchFamily="34" charset="0"/>
                <a:cs typeface="Arial" panose="020B0604020202020204" pitchFamily="34" charset="0"/>
              </a:rPr>
              <a:t>Security &amp; Compliance:</a:t>
            </a:r>
            <a:endParaRPr lang="en-US" altLang="en-US" sz="2000" b="1"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Maintain anonymity during crawling.</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Follow ethical crawling guidelines.</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 Log crawling activity for monitoring and auditing.</a:t>
            </a:r>
            <a:endParaRPr lang="en-US" altLang="en-US" sz="20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67030" y="176530"/>
            <a:ext cx="6245860" cy="631825"/>
          </a:xfrm>
          <a:prstGeom prst="rect">
            <a:avLst/>
          </a:prstGeom>
          <a:noFill/>
        </p:spPr>
        <p:txBody>
          <a:bodyPr wrap="square" rtlCol="0">
            <a:noAutofit/>
          </a:bodyPr>
          <a:p>
            <a:r>
              <a:rPr lang="en-US" altLang="en-US" sz="3600" b="1" dirty="0">
                <a:sym typeface="+mn-ea"/>
              </a:rPr>
              <a:t>Module 2 – Scraper Module</a:t>
            </a:r>
            <a:endParaRPr lang="en-US" altLang="en-US" sz="3600" b="1" dirty="0">
              <a:sym typeface="+mn-ea"/>
            </a:endParaRPr>
          </a:p>
        </p:txBody>
      </p:sp>
      <p:sp>
        <p:nvSpPr>
          <p:cNvPr id="6" name="Text Box 5"/>
          <p:cNvSpPr txBox="1"/>
          <p:nvPr/>
        </p:nvSpPr>
        <p:spPr>
          <a:xfrm>
            <a:off x="894080" y="990600"/>
            <a:ext cx="8195310" cy="5867400"/>
          </a:xfrm>
          <a:prstGeom prst="rect">
            <a:avLst/>
          </a:prstGeom>
          <a:noFill/>
        </p:spPr>
        <p:txBody>
          <a:bodyPr wrap="square" rtlCol="0">
            <a:noAutofit/>
          </a:bodyPr>
          <a:p>
            <a:pPr indent="0">
              <a:lnSpc>
                <a:spcPct val="90000"/>
              </a:lnSpc>
              <a:buFont typeface="Wingdings" panose="05000000000000000000" charset="0"/>
              <a:buNone/>
            </a:pPr>
            <a:r>
              <a:rPr lang="en-US" altLang="en-US" sz="2000" b="1"/>
              <a:t>P</a:t>
            </a:r>
            <a:r>
              <a:rPr lang="en-US" altLang="en-US" sz="2000" b="1">
                <a:latin typeface="Arial" panose="020B0604020202020204" pitchFamily="34" charset="0"/>
                <a:cs typeface="Arial" panose="020B0604020202020204" pitchFamily="34" charset="0"/>
              </a:rPr>
              <a:t>urpose:</a:t>
            </a:r>
            <a:r>
              <a:rPr lang="en-US" altLang="en-US" sz="2000">
                <a:latin typeface="Arial" panose="020B0604020202020204" pitchFamily="34" charset="0"/>
                <a:cs typeface="Arial" panose="020B0604020202020204" pitchFamily="34" charset="0"/>
              </a:rPr>
              <a:t> Extract relevant and meaningful data from crawled web pages.</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endParaRPr lang="en-US" altLang="en-US" sz="2000" b="1">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Key Responsibilities:</a:t>
            </a:r>
            <a:endParaRPr lang="en-US" altLang="en-US" sz="2000" b="1">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Parse HTML content from collected pages.</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Remove scripts, ads, and unwanted elements.</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Extract useful text, titles, and discussion content.</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Convert raw data into structured format.</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endParaRPr lang="en-US" altLang="en-US" sz="2000">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Core Flows:</a:t>
            </a:r>
            <a:endParaRPr lang="en-US" altLang="en-US" sz="2000" b="1">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Receive raw page data from crawler.</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Clean and preprocess extracted content.</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Filter only relevant cybersecurity-related information.</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Store structured output for analysis.</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endParaRPr lang="en-US" altLang="en-US" sz="2000" b="1">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Security &amp; Compliance:</a:t>
            </a:r>
            <a:endParaRPr lang="en-US" altLang="en-US" sz="2000" b="1">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Avoid collecting unnecessary sensitive data.</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Maintain logs of extracted information.</a:t>
            </a:r>
            <a:endParaRPr lang="en-US" altLang="en-US" sz="2000">
              <a:latin typeface="Arial" panose="020B0604020202020204" pitchFamily="34" charset="0"/>
              <a:cs typeface="Arial" panose="020B0604020202020204" pitchFamily="34" charset="0"/>
            </a:endParaRPr>
          </a:p>
          <a:p>
            <a:pPr marL="285750" indent="-28575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Ensure responsible and ethical data usage.</a:t>
            </a:r>
            <a:endParaRPr lang="en-US" altLang="en-US" sz="200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descr="module 2"/>
          <p:cNvPicPr>
            <a:picLocks noChangeAspect="1"/>
          </p:cNvPicPr>
          <p:nvPr>
            <p:ph idx="1"/>
          </p:nvPr>
        </p:nvPicPr>
        <p:blipFill>
          <a:blip r:embed="rId1"/>
          <a:stretch>
            <a:fillRect/>
          </a:stretch>
        </p:blipFill>
        <p:spPr>
          <a:xfrm>
            <a:off x="556895" y="486410"/>
            <a:ext cx="10751820" cy="60483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7545" y="248285"/>
            <a:ext cx="8596630" cy="464185"/>
          </a:xfrm>
        </p:spPr>
        <p:txBody>
          <a:bodyPr>
            <a:normAutofit fontScale="90000"/>
          </a:bodyPr>
          <a:p>
            <a:endParaRPr lang="en-US"/>
          </a:p>
        </p:txBody>
      </p:sp>
      <p:pic>
        <p:nvPicPr>
          <p:cNvPr id="4" name="Content Placeholder 3" descr="image of moduke 1"/>
          <p:cNvPicPr>
            <a:picLocks noChangeAspect="1"/>
          </p:cNvPicPr>
          <p:nvPr>
            <p:ph idx="1"/>
          </p:nvPr>
        </p:nvPicPr>
        <p:blipFill>
          <a:blip r:embed="rId1"/>
          <a:stretch>
            <a:fillRect/>
          </a:stretch>
        </p:blipFill>
        <p:spPr>
          <a:xfrm>
            <a:off x="295910" y="248285"/>
            <a:ext cx="11600180" cy="63265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18795" y="201930"/>
            <a:ext cx="8755380" cy="1259840"/>
          </a:xfrm>
        </p:spPr>
        <p:txBody>
          <a:bodyPr/>
          <a:lstStyle/>
          <a:p>
            <a:r>
              <a:rPr lang="en-US" altLang="en-US" b="1" dirty="0">
                <a:solidFill>
                  <a:schemeClr val="tx1"/>
                </a:solidFill>
              </a:rPr>
              <a:t>Module 3 – Data Analysis Module</a:t>
            </a:r>
            <a:endParaRPr lang="en-US" altLang="en-US" b="1" dirty="0">
              <a:solidFill>
                <a:schemeClr val="tx1"/>
              </a:solidFill>
            </a:endParaRPr>
          </a:p>
        </p:txBody>
      </p:sp>
      <p:sp>
        <p:nvSpPr>
          <p:cNvPr id="3" name="Content Placeholder 2"/>
          <p:cNvSpPr>
            <a:spLocks noGrp="1"/>
          </p:cNvSpPr>
          <p:nvPr>
            <p:ph idx="1"/>
          </p:nvPr>
        </p:nvSpPr>
        <p:spPr>
          <a:xfrm>
            <a:off x="1762556" y="1930400"/>
            <a:ext cx="9270534" cy="3880773"/>
          </a:xfrm>
        </p:spPr>
        <p:txBody>
          <a:bodyPr/>
          <a:lstStyle/>
          <a:p>
            <a:pPr marL="0" indent="0">
              <a:buNone/>
            </a:pPr>
            <a:endParaRPr lang="en-IN" sz="2000" dirty="0"/>
          </a:p>
          <a:p>
            <a:pPr marL="0" indent="0">
              <a:buNone/>
            </a:pPr>
            <a:endParaRPr lang="en-IN" dirty="0"/>
          </a:p>
          <a:p>
            <a:endParaRPr lang="en-IN" dirty="0"/>
          </a:p>
        </p:txBody>
      </p:sp>
      <p:sp>
        <p:nvSpPr>
          <p:cNvPr id="4" name="Rectangle 2"/>
          <p:cNvSpPr>
            <a:spLocks noChangeArrowheads="1"/>
          </p:cNvSpPr>
          <p:nvPr/>
        </p:nvSpPr>
        <p:spPr bwMode="auto">
          <a:xfrm>
            <a:off x="0" y="-57837"/>
            <a:ext cx="999411" cy="572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98242" tIns="125373" rIns="91440" bIns="45720" numCol="1" anchor="ctr" anchorCtr="0" compatLnSpc="1">
            <a:spAutoFit/>
          </a:bodyPr>
          <a:lstStyle>
            <a:lvl1pPr eaLnBrk="0" fontAlgn="base" hangingPunct="0">
              <a:spcBef>
                <a:spcPct val="0"/>
              </a:spcBef>
              <a:spcAft>
                <a:spcPct val="0"/>
              </a:spcAft>
              <a:tabLst>
                <a:tab pos="1299845" algn="l"/>
              </a:tabLst>
              <a:defRPr>
                <a:solidFill>
                  <a:schemeClr val="tx1"/>
                </a:solidFill>
                <a:latin typeface="Arial" panose="020B0604020202020204" pitchFamily="34" charset="0"/>
              </a:defRPr>
            </a:lvl1pPr>
            <a:lvl2pPr eaLnBrk="0" fontAlgn="base" hangingPunct="0">
              <a:spcBef>
                <a:spcPct val="0"/>
              </a:spcBef>
              <a:spcAft>
                <a:spcPct val="0"/>
              </a:spcAft>
              <a:tabLst>
                <a:tab pos="1299845" algn="l"/>
              </a:tabLst>
              <a:defRPr>
                <a:solidFill>
                  <a:schemeClr val="tx1"/>
                </a:solidFill>
                <a:latin typeface="Arial" panose="020B0604020202020204" pitchFamily="34" charset="0"/>
              </a:defRPr>
            </a:lvl2pPr>
            <a:lvl3pPr eaLnBrk="0" fontAlgn="base" hangingPunct="0">
              <a:spcBef>
                <a:spcPct val="0"/>
              </a:spcBef>
              <a:spcAft>
                <a:spcPct val="0"/>
              </a:spcAft>
              <a:tabLst>
                <a:tab pos="1299845" algn="l"/>
              </a:tabLst>
              <a:defRPr>
                <a:solidFill>
                  <a:schemeClr val="tx1"/>
                </a:solidFill>
                <a:latin typeface="Arial" panose="020B0604020202020204" pitchFamily="34" charset="0"/>
              </a:defRPr>
            </a:lvl3pPr>
            <a:lvl4pPr eaLnBrk="0" fontAlgn="base" hangingPunct="0">
              <a:spcBef>
                <a:spcPct val="0"/>
              </a:spcBef>
              <a:spcAft>
                <a:spcPct val="0"/>
              </a:spcAft>
              <a:tabLst>
                <a:tab pos="1299845" algn="l"/>
              </a:tabLst>
              <a:defRPr>
                <a:solidFill>
                  <a:schemeClr val="tx1"/>
                </a:solidFill>
                <a:latin typeface="Arial" panose="020B0604020202020204" pitchFamily="34" charset="0"/>
              </a:defRPr>
            </a:lvl4pPr>
            <a:lvl5pPr eaLnBrk="0" fontAlgn="base" hangingPunct="0">
              <a:spcBef>
                <a:spcPct val="0"/>
              </a:spcBef>
              <a:spcAft>
                <a:spcPct val="0"/>
              </a:spcAft>
              <a:tabLst>
                <a:tab pos="1299845" algn="l"/>
              </a:tabLst>
              <a:defRPr>
                <a:solidFill>
                  <a:schemeClr val="tx1"/>
                </a:solidFill>
                <a:latin typeface="Arial" panose="020B0604020202020204" pitchFamily="34" charset="0"/>
              </a:defRPr>
            </a:lvl5pPr>
            <a:lvl6pPr eaLnBrk="0" fontAlgn="base" hangingPunct="0">
              <a:spcBef>
                <a:spcPct val="0"/>
              </a:spcBef>
              <a:spcAft>
                <a:spcPct val="0"/>
              </a:spcAft>
              <a:tabLst>
                <a:tab pos="1299845" algn="l"/>
              </a:tabLst>
              <a:defRPr>
                <a:solidFill>
                  <a:schemeClr val="tx1"/>
                </a:solidFill>
                <a:latin typeface="Arial" panose="020B0604020202020204" pitchFamily="34" charset="0"/>
              </a:defRPr>
            </a:lvl6pPr>
            <a:lvl7pPr eaLnBrk="0" fontAlgn="base" hangingPunct="0">
              <a:spcBef>
                <a:spcPct val="0"/>
              </a:spcBef>
              <a:spcAft>
                <a:spcPct val="0"/>
              </a:spcAft>
              <a:tabLst>
                <a:tab pos="1299845" algn="l"/>
              </a:tabLst>
              <a:defRPr>
                <a:solidFill>
                  <a:schemeClr val="tx1"/>
                </a:solidFill>
                <a:latin typeface="Arial" panose="020B0604020202020204" pitchFamily="34" charset="0"/>
              </a:defRPr>
            </a:lvl7pPr>
            <a:lvl8pPr eaLnBrk="0" fontAlgn="base" hangingPunct="0">
              <a:spcBef>
                <a:spcPct val="0"/>
              </a:spcBef>
              <a:spcAft>
                <a:spcPct val="0"/>
              </a:spcAft>
              <a:tabLst>
                <a:tab pos="1299845" algn="l"/>
              </a:tabLst>
              <a:defRPr>
                <a:solidFill>
                  <a:schemeClr val="tx1"/>
                </a:solidFill>
                <a:latin typeface="Arial" panose="020B0604020202020204" pitchFamily="34" charset="0"/>
              </a:defRPr>
            </a:lvl8pPr>
            <a:lvl9pPr eaLnBrk="0" fontAlgn="base" hangingPunct="0">
              <a:spcBef>
                <a:spcPct val="0"/>
              </a:spcBef>
              <a:spcAft>
                <a:spcPct val="0"/>
              </a:spcAft>
              <a:tabLst>
                <a:tab pos="129984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1299845" algn="l"/>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299845"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5"/>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8"/>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 Box 6"/>
          <p:cNvSpPr txBox="1"/>
          <p:nvPr/>
        </p:nvSpPr>
        <p:spPr>
          <a:xfrm>
            <a:off x="912495" y="1054735"/>
            <a:ext cx="8661400" cy="5574030"/>
          </a:xfrm>
          <a:prstGeom prst="rect">
            <a:avLst/>
          </a:prstGeom>
          <a:noFill/>
        </p:spPr>
        <p:txBody>
          <a:bodyPr wrap="square" rtlCol="0">
            <a:noAutofit/>
          </a:bodyPr>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Purpose:</a:t>
            </a:r>
            <a:r>
              <a:rPr lang="en-US" altLang="en-US" sz="2000">
                <a:latin typeface="Arial" panose="020B0604020202020204" pitchFamily="34" charset="0"/>
                <a:cs typeface="Arial" panose="020B0604020202020204" pitchFamily="34" charset="0"/>
              </a:rPr>
              <a:t> Analyze extracted data to detect threats, risks, and patterns.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endParaRPr lang="en-US" altLang="en-US" sz="2000">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Key Responsibilities:</a:t>
            </a:r>
            <a:endParaRPr lang="en-US" altLang="en-US" sz="2000" b="1">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Perform text cleaning and preprocessing.</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Identify suspicious keywords and activities.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Apply NLP and AI-based analysis techniques.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Classify content into meaningful categories.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endParaRPr lang="en-US" altLang="en-US" sz="2000">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Core Flows:</a:t>
            </a:r>
            <a:endParaRPr lang="en-US" altLang="en-US" sz="2000" b="1">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Process structured data from scraper.</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Run keyword and pattern detection algorithms.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Perform sentiment and topic analysis.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Generate actionable threat intelligence insights.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endParaRPr lang="en-US" altLang="en-US" sz="2000">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US" altLang="en-US" sz="2000" b="1">
                <a:latin typeface="Arial" panose="020B0604020202020204" pitchFamily="34" charset="0"/>
                <a:cs typeface="Arial" panose="020B0604020202020204" pitchFamily="34" charset="0"/>
              </a:rPr>
              <a:t>Security &amp; Compliance:</a:t>
            </a:r>
            <a:endParaRPr lang="en-US" altLang="en-US" sz="2000" b="1">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Maintain transparency in analysis process.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Reduce bias in AI-based predictions.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 Follow cybersecurity research standards.</a:t>
            </a:r>
            <a:endParaRPr lang="en-US" altLang="en-US" sz="200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descr="WhatsApp Image 2026-03-05 at 10.53.03 PM"/>
          <p:cNvPicPr>
            <a:picLocks noChangeAspect="1"/>
          </p:cNvPicPr>
          <p:nvPr>
            <p:ph idx="1"/>
          </p:nvPr>
        </p:nvPicPr>
        <p:blipFill>
          <a:blip r:embed="rId1"/>
          <a:stretch>
            <a:fillRect/>
          </a:stretch>
        </p:blipFill>
        <p:spPr>
          <a:xfrm>
            <a:off x="1945640" y="93345"/>
            <a:ext cx="7328535" cy="64357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61" y="156238"/>
            <a:ext cx="8596668" cy="1320800"/>
          </a:xfrm>
        </p:spPr>
        <p:txBody>
          <a:bodyPr/>
          <a:lstStyle/>
          <a:p>
            <a:r>
              <a:rPr lang="en-US" b="1" dirty="0">
                <a:solidFill>
                  <a:schemeClr val="tx1"/>
                </a:solidFill>
              </a:rPr>
              <a:t>Conclusion</a:t>
            </a:r>
            <a:endParaRPr lang="en-IN" dirty="0">
              <a:solidFill>
                <a:schemeClr val="tx1"/>
              </a:solidFill>
            </a:endParaRPr>
          </a:p>
        </p:txBody>
      </p:sp>
      <p:sp>
        <p:nvSpPr>
          <p:cNvPr id="3" name="Content Placeholder 2"/>
          <p:cNvSpPr>
            <a:spLocks noGrp="1"/>
          </p:cNvSpPr>
          <p:nvPr>
            <p:ph idx="1"/>
          </p:nvPr>
        </p:nvSpPr>
        <p:spPr>
          <a:xfrm>
            <a:off x="666750" y="812800"/>
            <a:ext cx="8596630" cy="3851910"/>
          </a:xfrm>
        </p:spPr>
        <p:txBody>
          <a:bodyPr>
            <a:normAutofit lnSpcReduction="10000"/>
          </a:bodyPr>
          <a:lstStyle/>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Dark web crawler and scraper system enables safe and efficient exploration of hidden web content.</a:t>
            </a:r>
            <a:endParaRPr lang="zh-CN"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Tor network integration ensures anonymity and security for researchers.</a:t>
            </a:r>
            <a:endParaRPr lang="zh-CN"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Modular design allows easy upgrades and maintenance.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Data analysis and filtering provide structured and meaningful insights.</a:t>
            </a:r>
            <a:endParaRPr lang="zh-CN"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Secure storage ensures data integrity and protection.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Ethical and legal controls minimize risks of misuse</a:t>
            </a:r>
            <a:r>
              <a:rPr lang="en-US" altLang="en-US" sz="2000" dirty="0">
                <a:solidFill>
                  <a:schemeClr val="tx1">
                    <a:lumMod val="95000"/>
                    <a:lumOff val="5000"/>
                  </a:schemeClr>
                </a:solidFill>
                <a:sym typeface="+mn-ea"/>
              </a:rPr>
              <a:t>. </a:t>
            </a:r>
            <a:endParaRPr lang="en-US" altLang="en-US" sz="2000" dirty="0">
              <a:solidFill>
                <a:schemeClr val="tx1">
                  <a:lumMod val="95000"/>
                  <a:lumOff val="5000"/>
                </a:schemeClr>
              </a:solidFill>
            </a:endParaRPr>
          </a:p>
          <a:p>
            <a:pPr algn="just">
              <a:lnSpc>
                <a:spcPct val="150000"/>
              </a:lnSpc>
              <a:buClr>
                <a:schemeClr val="tx1"/>
              </a:buClr>
              <a:buFont typeface="Wingdings" panose="05000000000000000000" pitchFamily="2" charset="2"/>
              <a:buChar char="q"/>
            </a:pPr>
            <a:endParaRPr lang="en-US" altLang="en-US" dirty="0">
              <a:solidFill>
                <a:schemeClr val="tx1">
                  <a:lumMod val="95000"/>
                  <a:lumOff val="5000"/>
                </a:schemeClr>
              </a:solidFill>
            </a:endParaRPr>
          </a:p>
          <a:p>
            <a:pPr algn="just">
              <a:lnSpc>
                <a:spcPct val="150000"/>
              </a:lnSpc>
              <a:buClr>
                <a:schemeClr val="tx1"/>
              </a:buClr>
              <a:buFont typeface="Wingdings" panose="05000000000000000000" pitchFamily="2" charset="2"/>
              <a:buChar char="q"/>
            </a:pPr>
            <a:endParaRPr lang="en-IN" dirty="0"/>
          </a:p>
        </p:txBody>
      </p:sp>
      <p:sp>
        <p:nvSpPr>
          <p:cNvPr id="4" name="Cloud Callout 3"/>
          <p:cNvSpPr/>
          <p:nvPr/>
        </p:nvSpPr>
        <p:spPr>
          <a:xfrm>
            <a:off x="2986392" y="5048656"/>
            <a:ext cx="4659549" cy="1274323"/>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THANK YOU !</a:t>
            </a:r>
            <a:endParaRPr lang="en-US" b="1" dirty="0">
              <a:solidFill>
                <a:schemeClr val="tx1">
                  <a:lumMod val="95000"/>
                  <a:lumOff val="5000"/>
                </a:schemeClr>
              </a:solidFill>
            </a:endParaRPr>
          </a:p>
        </p:txBody>
      </p:sp>
    </p:spTree>
  </p:cSld>
  <p:clrMapOvr>
    <a:masterClrMapping/>
  </p:clrMapOvr>
</p:sld>
</file>

<file path=ppt/tags/tag1.xml><?xml version="1.0" encoding="utf-8"?>
<p:tagLst xmlns:p="http://schemas.openxmlformats.org/presentationml/2006/main">
  <p:tag name="KSO_WM_UNIT_INDEX" val="1"/>
  <p:tag name="KSO_WM_UNIT_TYPE" val="a"/>
  <p:tag name="KSO_WM_BEAUTIFY_FLAG" val="#wm#"/>
  <p:tag name="SlideZOrder" val="1"/>
  <p:tag name="KSO_WM_SHAPE_PLACEHOLDEROBJECT" val="1"/>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5406</Words>
  <Application>WPS Presentation</Application>
  <PresentationFormat>Widescreen</PresentationFormat>
  <Paragraphs>181</Paragraphs>
  <Slides>14</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SimSun</vt:lpstr>
      <vt:lpstr>Wingdings</vt:lpstr>
      <vt:lpstr>Wingdings 3</vt:lpstr>
      <vt:lpstr>Arial</vt:lpstr>
      <vt:lpstr>Wingdings</vt:lpstr>
      <vt:lpstr>Trebuchet MS</vt:lpstr>
      <vt:lpstr>Microsoft YaHei</vt:lpstr>
      <vt:lpstr>Arial Unicode MS</vt:lpstr>
      <vt:lpstr>Calibri</vt:lpstr>
      <vt:lpstr>华文新魏</vt:lpstr>
      <vt:lpstr>IDAutomationC39XS</vt:lpstr>
      <vt:lpstr>Facet</vt:lpstr>
      <vt:lpstr>    DARK WEB CRAWLER AND SCRAPER WITH  LLM-BASED SECURITY ANALYSIS</vt:lpstr>
      <vt:lpstr>Problem Statement</vt:lpstr>
      <vt:lpstr>Objective</vt:lpstr>
      <vt:lpstr>Existing System</vt:lpstr>
      <vt:lpstr> Proposed System :</vt:lpstr>
      <vt:lpstr>SYSTEM ARCHITECTURE/FLOW DIAGRAM</vt:lpstr>
      <vt:lpstr> </vt:lpstr>
      <vt:lpstr>Module 1 – Crawler Module </vt:lpstr>
      <vt:lpstr>PowerPoint 演示文稿</vt:lpstr>
      <vt:lpstr>PowerPoint 演示文稿</vt:lpstr>
      <vt:lpstr>PowerPoint 演示文稿</vt:lpstr>
      <vt:lpstr>Module 3 – Data Analysis Module</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 MATCH AI CLOUD BASED   STARTUP AND INVESTOR   MATCHING PLATFORM</dc:title>
  <dc:creator>vishalrameshv13@gmail.com</dc:creator>
  <cp:lastModifiedBy>Roja s</cp:lastModifiedBy>
  <cp:revision>14</cp:revision>
  <dcterms:created xsi:type="dcterms:W3CDTF">2024-12-13T12:01:00Z</dcterms:created>
  <dcterms:modified xsi:type="dcterms:W3CDTF">2026-03-06T06:57:23Z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6B4C21B944AB4DAAB197F128E0C4EE44_13</vt:lpwstr>
  </property>
  <property fmtid="{D5CDD505-2E9C-101B-9397-08002B2CF9AE}" pid="3" name="KSOProductBuildVer">
    <vt:lpwstr>1033-12.2.0.23196</vt:lpwstr>
  </property>
</Properties>
</file>